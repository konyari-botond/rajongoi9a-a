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16" autoAdjust="0"/>
    <p:restoredTop sz="94660"/>
  </p:normalViewPr>
  <p:slideViewPr>
    <p:cSldViewPr snapToGrid="0">
      <p:cViewPr>
        <p:scale>
          <a:sx n="100" d="100"/>
          <a:sy n="100" d="100"/>
        </p:scale>
        <p:origin x="1362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rickwork-HD-R1a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12" name="Freeform 11"/>
          <p:cNvSpPr/>
          <p:nvPr/>
        </p:nvSpPr>
        <p:spPr>
          <a:xfrm>
            <a:off x="-15875" y="0"/>
            <a:ext cx="11683810" cy="6588125"/>
          </a:xfrm>
          <a:custGeom>
            <a:avLst/>
            <a:gdLst/>
            <a:ahLst/>
            <a:cxnLst/>
            <a:rect l="l" t="t" r="r" b="b"/>
            <a:pathLst>
              <a:path w="11683810" h="6588125">
                <a:moveTo>
                  <a:pt x="0" y="0"/>
                </a:moveTo>
                <a:lnTo>
                  <a:pt x="11318691" y="0"/>
                </a:lnTo>
                <a:lnTo>
                  <a:pt x="11683810" y="5976938"/>
                </a:lnTo>
                <a:lnTo>
                  <a:pt x="15875" y="6588125"/>
                </a:lnTo>
                <a:cubicBezTo>
                  <a:pt x="10583" y="4386792"/>
                  <a:pt x="5292" y="2185458"/>
                  <a:pt x="0" y="0"/>
                </a:cubicBezTo>
                <a:close/>
              </a:path>
            </a:pathLst>
          </a:custGeom>
          <a:ln>
            <a:noFill/>
          </a:ln>
          <a:effectLst>
            <a:outerShdw blurRad="101600" dist="152400" dir="438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13"/>
          <p:cNvSpPr/>
          <p:nvPr/>
        </p:nvSpPr>
        <p:spPr>
          <a:xfrm>
            <a:off x="0" y="4282257"/>
            <a:ext cx="11329257" cy="2028845"/>
          </a:xfrm>
          <a:custGeom>
            <a:avLst/>
            <a:gdLst/>
            <a:ahLst/>
            <a:cxnLst/>
            <a:rect l="l" t="t" r="r" b="b"/>
            <a:pathLst>
              <a:path w="11329257" h="2028845">
                <a:moveTo>
                  <a:pt x="0" y="588520"/>
                </a:moveTo>
                <a:lnTo>
                  <a:pt x="11244075" y="0"/>
                </a:lnTo>
                <a:lnTo>
                  <a:pt x="11329257" y="1424838"/>
                </a:lnTo>
                <a:lnTo>
                  <a:pt x="0" y="2028845"/>
                </a:lnTo>
                <a:lnTo>
                  <a:pt x="0" y="58852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6" name="Freeform 25"/>
          <p:cNvSpPr/>
          <p:nvPr/>
        </p:nvSpPr>
        <p:spPr>
          <a:xfrm>
            <a:off x="0" y="0"/>
            <a:ext cx="8719579" cy="456877"/>
          </a:xfrm>
          <a:custGeom>
            <a:avLst/>
            <a:gdLst/>
            <a:ahLst/>
            <a:cxnLst/>
            <a:rect l="l" t="t" r="r" b="b"/>
            <a:pathLst>
              <a:path w="8719579" h="456877">
                <a:moveTo>
                  <a:pt x="0" y="0"/>
                </a:moveTo>
                <a:lnTo>
                  <a:pt x="8719579" y="0"/>
                </a:lnTo>
                <a:lnTo>
                  <a:pt x="0" y="456877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Freeform 14"/>
          <p:cNvSpPr/>
          <p:nvPr/>
        </p:nvSpPr>
        <p:spPr>
          <a:xfrm rot="21420000">
            <a:off x="-161800" y="293317"/>
            <a:ext cx="11367116" cy="5751804"/>
          </a:xfrm>
          <a:custGeom>
            <a:avLst/>
            <a:gdLst/>
            <a:ahLst/>
            <a:cxnLst/>
            <a:rect l="l" t="t" r="r" b="b"/>
            <a:pathLst>
              <a:path w="11367116" h="5751804">
                <a:moveTo>
                  <a:pt x="11346705" y="0"/>
                </a:moveTo>
                <a:cubicBezTo>
                  <a:pt x="11353509" y="1915114"/>
                  <a:pt x="11360312" y="3830229"/>
                  <a:pt x="11367116" y="5745343"/>
                </a:cubicBezTo>
                <a:lnTo>
                  <a:pt x="0" y="5751804"/>
                </a:lnTo>
              </a:path>
            </a:pathLst>
          </a:custGeom>
          <a:ln w="82550">
            <a:solidFill>
              <a:schemeClr val="tx1">
                <a:lumMod val="50000"/>
                <a:lumOff val="50000"/>
              </a:schemeClr>
            </a:solidFill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 rot="21420000">
            <a:off x="891201" y="662656"/>
            <a:ext cx="9755187" cy="2766528"/>
          </a:xfrm>
        </p:spPr>
        <p:txBody>
          <a:bodyPr anchor="b">
            <a:normAutofit/>
          </a:bodyPr>
          <a:lstStyle>
            <a:lvl1pPr algn="r">
              <a:defRPr sz="8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 rot="21420000">
            <a:off x="983062" y="3505209"/>
            <a:ext cx="9755187" cy="550333"/>
          </a:xfrm>
        </p:spPr>
        <p:txBody>
          <a:bodyPr anchor="t">
            <a:noAutofit/>
          </a:bodyPr>
          <a:lstStyle>
            <a:lvl1pPr marL="0" indent="0" algn="r">
              <a:buNone/>
              <a:defRPr sz="28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21420000">
            <a:off x="4948541" y="4578463"/>
            <a:ext cx="6143653" cy="1163112"/>
          </a:xfrm>
        </p:spPr>
        <p:txBody>
          <a:bodyPr/>
          <a:lstStyle>
            <a:lvl1pPr algn="ctr">
              <a:defRPr sz="54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4D4C322F-BC9B-42E0-BD88-98D7F3AB06DE}" type="datetimeFigureOut">
              <a:rPr lang="hu-HU" smtClean="0"/>
              <a:t>2026.02.25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21420000">
            <a:off x="-5560" y="4883024"/>
            <a:ext cx="4047239" cy="1195538"/>
          </a:xfrm>
        </p:spPr>
        <p:txBody>
          <a:bodyPr vert="horz" lIns="91440" tIns="45720" rIns="91440" bIns="45720" rtlCol="0" anchor="ctr"/>
          <a:lstStyle>
            <a:lvl1pPr algn="r">
              <a:defRPr lang="en-US" sz="5400" dirty="0"/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21420000">
            <a:off x="9851758" y="3832648"/>
            <a:ext cx="907186" cy="498470"/>
          </a:xfrm>
        </p:spPr>
        <p:txBody>
          <a:bodyPr/>
          <a:lstStyle>
            <a:lvl1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  <p:sp>
        <p:nvSpPr>
          <p:cNvPr id="25" name="5-Point Star 24"/>
          <p:cNvSpPr/>
          <p:nvPr/>
        </p:nvSpPr>
        <p:spPr>
          <a:xfrm rot="21420000">
            <a:off x="4221385" y="5111356"/>
            <a:ext cx="515386" cy="515386"/>
          </a:xfrm>
          <a:prstGeom prst="star5">
            <a:avLst>
              <a:gd name="adj" fmla="val 26693"/>
              <a:gd name="hf" fmla="val 105146"/>
              <a:gd name="vf" fmla="val 110557"/>
            </a:avLst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53371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800" y="2063396"/>
            <a:ext cx="10394707" cy="3311189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2026.02.25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80566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4707" cy="3193487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3742267"/>
            <a:ext cx="10394707" cy="1639614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2026.02.25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53332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882" cy="115814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800" y="2063396"/>
            <a:ext cx="5088714" cy="3311189"/>
          </a:xfrm>
        </p:spPr>
        <p:txBody>
          <a:bodyPr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5993971" y="2063396"/>
            <a:ext cx="5086538" cy="3311189"/>
          </a:xfrm>
        </p:spPr>
        <p:txBody>
          <a:bodyPr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2026.02.25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410849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4707" cy="115814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8356" y="2063396"/>
            <a:ext cx="4856158" cy="67999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6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685802" y="2861733"/>
            <a:ext cx="5088712" cy="2512852"/>
          </a:xfrm>
        </p:spPr>
        <p:txBody>
          <a:bodyPr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8191" y="2063396"/>
            <a:ext cx="4864491" cy="67999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6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5993969" y="2861733"/>
            <a:ext cx="5088713" cy="2512852"/>
          </a:xfrm>
        </p:spPr>
        <p:txBody>
          <a:bodyPr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2026.02.25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05471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2026.02.25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6534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2026.02.25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303339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3643" y="685800"/>
            <a:ext cx="4126860" cy="2023252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46132" y="685800"/>
            <a:ext cx="6034375" cy="4688785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3642" y="2709052"/>
            <a:ext cx="4126861" cy="2665533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2026.02.25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68360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685800"/>
            <a:ext cx="6345302" cy="2023252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82362" y="0"/>
            <a:ext cx="3598146" cy="5071533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1" y="2709052"/>
            <a:ext cx="6345301" cy="2362481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2026.02.25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671346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106333"/>
            <a:ext cx="10394708" cy="58884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5801" y="685799"/>
            <a:ext cx="10392513" cy="3194903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780" y="4702923"/>
            <a:ext cx="10394728" cy="682472"/>
          </a:xfrm>
        </p:spPr>
        <p:txBody>
          <a:bodyPr anchor="t"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2026.02.25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469743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902" cy="3194903"/>
          </a:xfrm>
        </p:spPr>
        <p:txBody>
          <a:bodyPr anchor="ctr">
            <a:normAutofit/>
          </a:bodyPr>
          <a:lstStyle>
            <a:lvl1pPr algn="ctr"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779" y="4106333"/>
            <a:ext cx="10394729" cy="127360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2026.02.25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71246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1732" y="685800"/>
            <a:ext cx="9525020" cy="2916704"/>
          </a:xfrm>
        </p:spPr>
        <p:txBody>
          <a:bodyPr anchor="ctr">
            <a:normAutofit/>
          </a:bodyPr>
          <a:lstStyle>
            <a:lvl1pPr algn="ctr"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550264" y="3610032"/>
            <a:ext cx="8667956" cy="377768"/>
          </a:xfrm>
        </p:spPr>
        <p:txBody>
          <a:bodyPr anchor="t">
            <a:normAutofit/>
          </a:bodyPr>
          <a:lstStyle>
            <a:lvl1pPr marL="0" indent="0" algn="r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1" y="4106334"/>
            <a:ext cx="10396882" cy="126825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2026.02.25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  <p:sp>
        <p:nvSpPr>
          <p:cNvPr id="13" name="TextBox 12"/>
          <p:cNvSpPr txBox="1"/>
          <p:nvPr/>
        </p:nvSpPr>
        <p:spPr>
          <a:xfrm>
            <a:off x="685801" y="89262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3083" y="292282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237980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23854"/>
            <a:ext cx="10394707" cy="2511835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247468"/>
            <a:ext cx="10394707" cy="114064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2026.02.25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881825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802" y="685800"/>
            <a:ext cx="10394706" cy="1151965"/>
          </a:xfrm>
        </p:spPr>
        <p:txBody>
          <a:bodyPr/>
          <a:lstStyle>
            <a:lvl1pPr algn="ctr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2" y="206339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802" y="2639658"/>
            <a:ext cx="3310128" cy="273492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34622" y="206339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234621" y="2639658"/>
            <a:ext cx="3310128" cy="273492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770380" y="206339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770380" y="2639658"/>
            <a:ext cx="3310128" cy="273492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2026.02.25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149808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882" cy="1151965"/>
          </a:xfrm>
        </p:spPr>
        <p:txBody>
          <a:bodyPr/>
          <a:lstStyle>
            <a:lvl1pPr algn="ctr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91840" y="381302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2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5780" y="2063395"/>
            <a:ext cx="3310128" cy="1536725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91840" y="4389287"/>
            <a:ext cx="3310128" cy="98529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37410" y="381302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2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235999" y="2063395"/>
            <a:ext cx="3310128" cy="1535237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235999" y="4389286"/>
            <a:ext cx="3310128" cy="98530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768944" y="381302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2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768819" y="2063394"/>
            <a:ext cx="3310128" cy="1537196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768819" y="4389284"/>
            <a:ext cx="3310128" cy="985302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2026.02.25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376219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800" y="2063396"/>
            <a:ext cx="10394707" cy="3311190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2026.02.25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201629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15862" y="685800"/>
            <a:ext cx="2264646" cy="4688785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800" y="685800"/>
            <a:ext cx="7904431" cy="4688785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2026.02.25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73222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jp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rickwork-HD-R1a.jp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>
            <a:off x="-25397" y="0"/>
            <a:ext cx="12005350" cy="6644081"/>
            <a:chOff x="-25397" y="0"/>
            <a:chExt cx="12005350" cy="6644081"/>
          </a:xfrm>
        </p:grpSpPr>
        <p:sp useBgFill="1">
          <p:nvSpPr>
            <p:cNvPr id="11" name="Rectangle 10"/>
            <p:cNvSpPr/>
            <p:nvPr/>
          </p:nvSpPr>
          <p:spPr>
            <a:xfrm>
              <a:off x="1" y="0"/>
              <a:ext cx="11979952" cy="6644081"/>
            </a:xfrm>
            <a:prstGeom prst="rect">
              <a:avLst/>
            </a:prstGeom>
            <a:ln>
              <a:noFill/>
            </a:ln>
            <a:effectLst>
              <a:outerShdw blurRad="98425" dist="76200" dir="4380000" algn="tl" rotWithShape="0">
                <a:srgbClr val="000000">
                  <a:alpha val="6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-25397" y="0"/>
              <a:ext cx="11773291" cy="6419514"/>
            </a:xfrm>
            <a:custGeom>
              <a:avLst/>
              <a:gdLst/>
              <a:ahLst/>
              <a:cxnLst/>
              <a:rect l="l" t="t" r="r" b="b"/>
              <a:pathLst>
                <a:path w="11773291" h="6419514">
                  <a:moveTo>
                    <a:pt x="11750059" y="0"/>
                  </a:moveTo>
                  <a:lnTo>
                    <a:pt x="11773291" y="6419514"/>
                  </a:lnTo>
                  <a:lnTo>
                    <a:pt x="0" y="6411047"/>
                  </a:lnTo>
                </a:path>
              </a:pathLst>
            </a:custGeom>
            <a:ln w="82550">
              <a:solidFill>
                <a:schemeClr val="tx1">
                  <a:lumMod val="50000"/>
                  <a:lumOff val="50000"/>
                </a:schemeClr>
              </a:solidFill>
              <a:miter lim="800000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sp>
        <p:sp>
          <p:nvSpPr>
            <p:cNvPr id="13" name="Rectangle 12"/>
            <p:cNvSpPr/>
            <p:nvPr/>
          </p:nvSpPr>
          <p:spPr>
            <a:xfrm>
              <a:off x="1" y="5600215"/>
              <a:ext cx="11706512" cy="780581"/>
            </a:xfrm>
            <a:prstGeom prst="rect">
              <a:avLst/>
            </a:prstGeom>
            <a:gradFill flip="none" rotWithShape="1">
              <a:gsLst>
                <a:gs pos="34000">
                  <a:schemeClr val="accent1"/>
                </a:gs>
                <a:gs pos="100000">
                  <a:schemeClr val="accent1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882" cy="11519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63396"/>
            <a:ext cx="10396883" cy="33111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98083" y="5757334"/>
            <a:ext cx="3784600" cy="4984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2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4D4C322F-BC9B-42E0-BD88-98D7F3AB06DE}" type="datetimeFigureOut">
              <a:rPr lang="hu-HU" smtClean="0"/>
              <a:t>2026.02.25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1" y="5757334"/>
            <a:ext cx="5499719" cy="4984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2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87121" y="5757334"/>
            <a:ext cx="907186" cy="4984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2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51622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solidFill>
            <a:schemeClr val="accent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EC399B1-9BBC-414D-9911-563351169D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Programozás bemutató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8673976-1BAA-4E8F-9D3F-54E3E6FCEF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21420000">
            <a:off x="8407309" y="3831072"/>
            <a:ext cx="2523466" cy="1963502"/>
          </a:xfrm>
        </p:spPr>
        <p:txBody>
          <a:bodyPr/>
          <a:lstStyle/>
          <a:p>
            <a:r>
              <a:rPr lang="hu-HU" sz="3000" dirty="0"/>
              <a:t>Készítette: </a:t>
            </a:r>
            <a:br>
              <a:rPr lang="hu-HU" dirty="0"/>
            </a:br>
            <a:r>
              <a:rPr lang="hu-HU" sz="2400" dirty="0"/>
              <a:t>Csendes Károly </a:t>
            </a:r>
            <a:br>
              <a:rPr lang="hu-HU" sz="2400" dirty="0"/>
            </a:br>
            <a:r>
              <a:rPr lang="hu-HU" sz="2400" dirty="0"/>
              <a:t>Konyári Botond </a:t>
            </a:r>
            <a:br>
              <a:rPr lang="hu-HU" sz="2400" dirty="0"/>
            </a:br>
            <a:r>
              <a:rPr lang="hu-HU" sz="2400" dirty="0"/>
              <a:t>Dániel Ádám</a:t>
            </a:r>
          </a:p>
        </p:txBody>
      </p:sp>
    </p:spTree>
    <p:extLst>
      <p:ext uri="{BB962C8B-B14F-4D97-AF65-F5344CB8AC3E}">
        <p14:creationId xmlns:p14="http://schemas.microsoft.com/office/powerpoint/2010/main" val="3122333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500">
        <p:checker/>
      </p:transition>
    </mc:Choice>
    <mc:Fallback>
      <p:transition spd="slow">
        <p:checker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 helye 3">
            <a:extLst>
              <a:ext uri="{FF2B5EF4-FFF2-40B4-BE49-F238E27FC236}">
                <a16:creationId xmlns:a16="http://schemas.microsoft.com/office/drawing/2014/main" id="{A380262F-8C9A-4ACF-9766-4BB046BFD3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28492" y="185170"/>
            <a:ext cx="2897411" cy="669708"/>
          </a:xfrm>
        </p:spPr>
        <p:txBody>
          <a:bodyPr>
            <a:noAutofit/>
          </a:bodyPr>
          <a:lstStyle/>
          <a:p>
            <a:r>
              <a:rPr lang="hu-HU" sz="3200" b="1" dirty="0"/>
              <a:t>Nyomógombok</a:t>
            </a:r>
          </a:p>
        </p:txBody>
      </p:sp>
      <p:sp>
        <p:nvSpPr>
          <p:cNvPr id="6" name="Cím 5">
            <a:extLst>
              <a:ext uri="{FF2B5EF4-FFF2-40B4-BE49-F238E27FC236}">
                <a16:creationId xmlns:a16="http://schemas.microsoft.com/office/drawing/2014/main" id="{2F31512E-B551-4349-852F-DD3A1FF07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05" y="279714"/>
            <a:ext cx="3949307" cy="1382697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hu-HU" sz="4000" u="sng" dirty="0"/>
              <a:t>Demonok.html</a:t>
            </a:r>
            <a:br>
              <a:rPr lang="hu-HU" dirty="0"/>
            </a:br>
            <a:r>
              <a:rPr lang="hu-HU" sz="2400" dirty="0"/>
              <a:t>Készítette:</a:t>
            </a:r>
            <a:br>
              <a:rPr lang="hu-HU" sz="2400" dirty="0"/>
            </a:br>
            <a:r>
              <a:rPr lang="hu-HU" sz="2400" dirty="0"/>
              <a:t>Konyári Botond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626E6684-46CA-4F1B-8DB6-D34D4F4FE28B}"/>
              </a:ext>
            </a:extLst>
          </p:cNvPr>
          <p:cNvSpPr txBox="1"/>
          <p:nvPr/>
        </p:nvSpPr>
        <p:spPr>
          <a:xfrm>
            <a:off x="4008873" y="877005"/>
            <a:ext cx="336832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Az oldal legelején látható egy 7db-os nyomógomb amely az oldal rendezését irányítja minimális java script-el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AC0D1428-A006-4BB2-8484-4E5209DEE31C}"/>
              </a:ext>
            </a:extLst>
          </p:cNvPr>
          <p:cNvSpPr txBox="1"/>
          <p:nvPr/>
        </p:nvSpPr>
        <p:spPr>
          <a:xfrm>
            <a:off x="585926" y="2613607"/>
            <a:ext cx="9499108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200" dirty="0">
                <a:latin typeface="Monospac821 BT" panose="020B0609020202020204" pitchFamily="49" charset="0"/>
              </a:rPr>
              <a:t>&lt;div </a:t>
            </a:r>
            <a:r>
              <a:rPr lang="hu-HU" sz="1200" dirty="0" err="1">
                <a:latin typeface="Monospac821 BT" panose="020B0609020202020204" pitchFamily="49" charset="0"/>
              </a:rPr>
              <a:t>class</a:t>
            </a:r>
            <a:r>
              <a:rPr lang="hu-HU" sz="1200" dirty="0">
                <a:latin typeface="Monospac821 BT" panose="020B0609020202020204" pitchFamily="49" charset="0"/>
              </a:rPr>
              <a:t>="mb-4 text-center"&gt;</a:t>
            </a:r>
          </a:p>
          <a:p>
            <a:endParaRPr lang="hu-HU" sz="1200" dirty="0">
              <a:latin typeface="Monospac821 BT" panose="020B0609020202020204" pitchFamily="49" charset="0"/>
            </a:endParaRPr>
          </a:p>
          <a:p>
            <a:r>
              <a:rPr lang="hu-HU" sz="1200" dirty="0">
                <a:latin typeface="Monospac821 BT" panose="020B0609020202020204" pitchFamily="49" charset="0"/>
              </a:rPr>
              <a:t>    &lt;</a:t>
            </a:r>
            <a:r>
              <a:rPr lang="hu-HU" sz="1200" dirty="0" err="1">
                <a:latin typeface="Monospac821 BT" panose="020B0609020202020204" pitchFamily="49" charset="0"/>
              </a:rPr>
              <a:t>button</a:t>
            </a:r>
            <a:r>
              <a:rPr lang="hu-HU" sz="1200" dirty="0">
                <a:latin typeface="Monospac821 BT" panose="020B0609020202020204" pitchFamily="49" charset="0"/>
              </a:rPr>
              <a:t> </a:t>
            </a:r>
            <a:r>
              <a:rPr lang="hu-HU" sz="1200" dirty="0" err="1">
                <a:latin typeface="Monospac821 BT" panose="020B0609020202020204" pitchFamily="49" charset="0"/>
              </a:rPr>
              <a:t>class</a:t>
            </a:r>
            <a:r>
              <a:rPr lang="hu-HU" sz="1200" dirty="0">
                <a:latin typeface="Monospac821 BT" panose="020B0609020202020204" pitchFamily="49" charset="0"/>
              </a:rPr>
              <a:t>="</a:t>
            </a:r>
            <a:r>
              <a:rPr lang="hu-HU" sz="1200" dirty="0" err="1">
                <a:latin typeface="Monospac821 BT" panose="020B0609020202020204" pitchFamily="49" charset="0"/>
              </a:rPr>
              <a:t>btn</a:t>
            </a:r>
            <a:r>
              <a:rPr lang="hu-HU" sz="1200" dirty="0">
                <a:latin typeface="Monospac821 BT" panose="020B0609020202020204" pitchFamily="49" charset="0"/>
              </a:rPr>
              <a:t> </a:t>
            </a:r>
            <a:r>
              <a:rPr lang="hu-HU" sz="1200" dirty="0" err="1">
                <a:latin typeface="Monospac821 BT" panose="020B0609020202020204" pitchFamily="49" charset="0"/>
              </a:rPr>
              <a:t>btn</a:t>
            </a:r>
            <a:r>
              <a:rPr lang="hu-HU" sz="1200" dirty="0">
                <a:latin typeface="Monospac821 BT" panose="020B0609020202020204" pitchFamily="49" charset="0"/>
              </a:rPr>
              <a:t>-outline-</a:t>
            </a:r>
            <a:r>
              <a:rPr lang="hu-HU" sz="1200" dirty="0" err="1">
                <a:latin typeface="Monospac821 BT" panose="020B0609020202020204" pitchFamily="49" charset="0"/>
              </a:rPr>
              <a:t>danger</a:t>
            </a:r>
            <a:r>
              <a:rPr lang="hu-HU" sz="1200" dirty="0">
                <a:latin typeface="Monospac821 BT" panose="020B0609020202020204" pitchFamily="49" charset="0"/>
              </a:rPr>
              <a:t> filter-</a:t>
            </a:r>
            <a:r>
              <a:rPr lang="hu-HU" sz="1200" dirty="0" err="1">
                <a:latin typeface="Monospac821 BT" panose="020B0609020202020204" pitchFamily="49" charset="0"/>
              </a:rPr>
              <a:t>btn</a:t>
            </a:r>
            <a:r>
              <a:rPr lang="hu-HU" sz="1200" dirty="0">
                <a:latin typeface="Monospac821 BT" panose="020B0609020202020204" pitchFamily="49" charset="0"/>
              </a:rPr>
              <a:t>" </a:t>
            </a:r>
            <a:r>
              <a:rPr lang="hu-HU" sz="1200" dirty="0" err="1">
                <a:latin typeface="Monospac821 BT" panose="020B0609020202020204" pitchFamily="49" charset="0"/>
              </a:rPr>
              <a:t>data</a:t>
            </a:r>
            <a:r>
              <a:rPr lang="hu-HU" sz="1200" dirty="0">
                <a:latin typeface="Monospac821 BT" panose="020B0609020202020204" pitchFamily="49" charset="0"/>
              </a:rPr>
              <a:t>-filter="</a:t>
            </a:r>
            <a:r>
              <a:rPr lang="hu-HU" sz="1200" dirty="0" err="1">
                <a:latin typeface="Monospac821 BT" panose="020B0609020202020204" pitchFamily="49" charset="0"/>
              </a:rPr>
              <a:t>emf</a:t>
            </a:r>
            <a:r>
              <a:rPr lang="hu-HU" sz="1200" dirty="0">
                <a:latin typeface="Monospac821 BT" panose="020B0609020202020204" pitchFamily="49" charset="0"/>
              </a:rPr>
              <a:t>"&gt;EMF 5&lt;/</a:t>
            </a:r>
            <a:r>
              <a:rPr lang="hu-HU" sz="1200" dirty="0" err="1">
                <a:latin typeface="Monospac821 BT" panose="020B0609020202020204" pitchFamily="49" charset="0"/>
              </a:rPr>
              <a:t>button</a:t>
            </a:r>
            <a:r>
              <a:rPr lang="hu-HU" sz="1200" dirty="0">
                <a:latin typeface="Monospac821 BT" panose="020B0609020202020204" pitchFamily="49" charset="0"/>
              </a:rPr>
              <a:t>&gt;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    &lt;</a:t>
            </a:r>
            <a:r>
              <a:rPr lang="hu-HU" sz="1200" dirty="0" err="1">
                <a:latin typeface="Monospac821 BT" panose="020B0609020202020204" pitchFamily="49" charset="0"/>
              </a:rPr>
              <a:t>button</a:t>
            </a:r>
            <a:r>
              <a:rPr lang="hu-HU" sz="1200" dirty="0">
                <a:latin typeface="Monospac821 BT" panose="020B0609020202020204" pitchFamily="49" charset="0"/>
              </a:rPr>
              <a:t> </a:t>
            </a:r>
            <a:r>
              <a:rPr lang="hu-HU" sz="1200" dirty="0" err="1">
                <a:latin typeface="Monospac821 BT" panose="020B0609020202020204" pitchFamily="49" charset="0"/>
              </a:rPr>
              <a:t>class</a:t>
            </a:r>
            <a:r>
              <a:rPr lang="hu-HU" sz="1200" dirty="0">
                <a:latin typeface="Monospac821 BT" panose="020B0609020202020204" pitchFamily="49" charset="0"/>
              </a:rPr>
              <a:t>="</a:t>
            </a:r>
            <a:r>
              <a:rPr lang="hu-HU" sz="1200" dirty="0" err="1">
                <a:latin typeface="Monospac821 BT" panose="020B0609020202020204" pitchFamily="49" charset="0"/>
              </a:rPr>
              <a:t>btn</a:t>
            </a:r>
            <a:r>
              <a:rPr lang="hu-HU" sz="1200" dirty="0">
                <a:latin typeface="Monospac821 BT" panose="020B0609020202020204" pitchFamily="49" charset="0"/>
              </a:rPr>
              <a:t> </a:t>
            </a:r>
            <a:r>
              <a:rPr lang="hu-HU" sz="1200" dirty="0" err="1">
                <a:latin typeface="Monospac821 BT" panose="020B0609020202020204" pitchFamily="49" charset="0"/>
              </a:rPr>
              <a:t>btn</a:t>
            </a:r>
            <a:r>
              <a:rPr lang="hu-HU" sz="1200" dirty="0">
                <a:latin typeface="Monospac821 BT" panose="020B0609020202020204" pitchFamily="49" charset="0"/>
              </a:rPr>
              <a:t>-outline-</a:t>
            </a:r>
            <a:r>
              <a:rPr lang="hu-HU" sz="1200" dirty="0" err="1">
                <a:latin typeface="Monospac821 BT" panose="020B0609020202020204" pitchFamily="49" charset="0"/>
              </a:rPr>
              <a:t>danger</a:t>
            </a:r>
            <a:r>
              <a:rPr lang="hu-HU" sz="1200" dirty="0">
                <a:latin typeface="Monospac821 BT" panose="020B0609020202020204" pitchFamily="49" charset="0"/>
              </a:rPr>
              <a:t> filter-</a:t>
            </a:r>
            <a:r>
              <a:rPr lang="hu-HU" sz="1200" dirty="0" err="1">
                <a:latin typeface="Monospac821 BT" panose="020B0609020202020204" pitchFamily="49" charset="0"/>
              </a:rPr>
              <a:t>btn</a:t>
            </a:r>
            <a:r>
              <a:rPr lang="hu-HU" sz="1200" dirty="0">
                <a:latin typeface="Monospac821 BT" panose="020B0609020202020204" pitchFamily="49" charset="0"/>
              </a:rPr>
              <a:t>" </a:t>
            </a:r>
            <a:r>
              <a:rPr lang="hu-HU" sz="1200" dirty="0" err="1">
                <a:latin typeface="Monospac821 BT" panose="020B0609020202020204" pitchFamily="49" charset="0"/>
              </a:rPr>
              <a:t>data</a:t>
            </a:r>
            <a:r>
              <a:rPr lang="hu-HU" sz="1200" dirty="0">
                <a:latin typeface="Monospac821 BT" panose="020B0609020202020204" pitchFamily="49" charset="0"/>
              </a:rPr>
              <a:t>-filter="</a:t>
            </a:r>
            <a:r>
              <a:rPr lang="hu-HU" sz="1200" dirty="0" err="1">
                <a:latin typeface="Monospac821 BT" panose="020B0609020202020204" pitchFamily="49" charset="0"/>
              </a:rPr>
              <a:t>ultraviolet</a:t>
            </a:r>
            <a:r>
              <a:rPr lang="hu-HU" sz="1200" dirty="0">
                <a:latin typeface="Monospac821 BT" panose="020B0609020202020204" pitchFamily="49" charset="0"/>
              </a:rPr>
              <a:t>"&gt;</a:t>
            </a:r>
            <a:r>
              <a:rPr lang="hu-HU" sz="1200" dirty="0" err="1">
                <a:latin typeface="Monospac821 BT" panose="020B0609020202020204" pitchFamily="49" charset="0"/>
              </a:rPr>
              <a:t>Ultraviolet</a:t>
            </a:r>
            <a:r>
              <a:rPr lang="hu-HU" sz="1200" dirty="0">
                <a:latin typeface="Monospac821 BT" panose="020B0609020202020204" pitchFamily="49" charset="0"/>
              </a:rPr>
              <a:t>&lt;/</a:t>
            </a:r>
            <a:r>
              <a:rPr lang="hu-HU" sz="1200" dirty="0" err="1">
                <a:latin typeface="Monospac821 BT" panose="020B0609020202020204" pitchFamily="49" charset="0"/>
              </a:rPr>
              <a:t>button</a:t>
            </a:r>
            <a:r>
              <a:rPr lang="hu-HU" sz="1200" dirty="0">
                <a:latin typeface="Monospac821 BT" panose="020B0609020202020204" pitchFamily="49" charset="0"/>
              </a:rPr>
              <a:t>&gt;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    &lt;</a:t>
            </a:r>
            <a:r>
              <a:rPr lang="hu-HU" sz="1200" dirty="0" err="1">
                <a:latin typeface="Monospac821 BT" panose="020B0609020202020204" pitchFamily="49" charset="0"/>
              </a:rPr>
              <a:t>button</a:t>
            </a:r>
            <a:r>
              <a:rPr lang="hu-HU" sz="1200" dirty="0">
                <a:latin typeface="Monospac821 BT" panose="020B0609020202020204" pitchFamily="49" charset="0"/>
              </a:rPr>
              <a:t> </a:t>
            </a:r>
            <a:r>
              <a:rPr lang="hu-HU" sz="1200" dirty="0" err="1">
                <a:latin typeface="Monospac821 BT" panose="020B0609020202020204" pitchFamily="49" charset="0"/>
              </a:rPr>
              <a:t>class</a:t>
            </a:r>
            <a:r>
              <a:rPr lang="hu-HU" sz="1200" dirty="0">
                <a:latin typeface="Monospac821 BT" panose="020B0609020202020204" pitchFamily="49" charset="0"/>
              </a:rPr>
              <a:t>="</a:t>
            </a:r>
            <a:r>
              <a:rPr lang="hu-HU" sz="1200" dirty="0" err="1">
                <a:latin typeface="Monospac821 BT" panose="020B0609020202020204" pitchFamily="49" charset="0"/>
              </a:rPr>
              <a:t>btn</a:t>
            </a:r>
            <a:r>
              <a:rPr lang="hu-HU" sz="1200" dirty="0">
                <a:latin typeface="Monospac821 BT" panose="020B0609020202020204" pitchFamily="49" charset="0"/>
              </a:rPr>
              <a:t> </a:t>
            </a:r>
            <a:r>
              <a:rPr lang="hu-HU" sz="1200" dirty="0" err="1">
                <a:latin typeface="Monospac821 BT" panose="020B0609020202020204" pitchFamily="49" charset="0"/>
              </a:rPr>
              <a:t>btn</a:t>
            </a:r>
            <a:r>
              <a:rPr lang="hu-HU" sz="1200" dirty="0">
                <a:latin typeface="Monospac821 BT" panose="020B0609020202020204" pitchFamily="49" charset="0"/>
              </a:rPr>
              <a:t>-outline-</a:t>
            </a:r>
            <a:r>
              <a:rPr lang="hu-HU" sz="1200" dirty="0" err="1">
                <a:latin typeface="Monospac821 BT" panose="020B0609020202020204" pitchFamily="49" charset="0"/>
              </a:rPr>
              <a:t>danger</a:t>
            </a:r>
            <a:r>
              <a:rPr lang="hu-HU" sz="1200" dirty="0">
                <a:latin typeface="Monospac821 BT" panose="020B0609020202020204" pitchFamily="49" charset="0"/>
              </a:rPr>
              <a:t> filter-</a:t>
            </a:r>
            <a:r>
              <a:rPr lang="hu-HU" sz="1200" dirty="0" err="1">
                <a:latin typeface="Monospac821 BT" panose="020B0609020202020204" pitchFamily="49" charset="0"/>
              </a:rPr>
              <a:t>btn</a:t>
            </a:r>
            <a:r>
              <a:rPr lang="hu-HU" sz="1200" dirty="0">
                <a:latin typeface="Monospac821 BT" panose="020B0609020202020204" pitchFamily="49" charset="0"/>
              </a:rPr>
              <a:t>" </a:t>
            </a:r>
            <a:r>
              <a:rPr lang="hu-HU" sz="1200" dirty="0" err="1">
                <a:latin typeface="Monospac821 BT" panose="020B0609020202020204" pitchFamily="49" charset="0"/>
              </a:rPr>
              <a:t>data</a:t>
            </a:r>
            <a:r>
              <a:rPr lang="hu-HU" sz="1200" dirty="0">
                <a:latin typeface="Monospac821 BT" panose="020B0609020202020204" pitchFamily="49" charset="0"/>
              </a:rPr>
              <a:t>-filter="</a:t>
            </a:r>
            <a:r>
              <a:rPr lang="hu-HU" sz="1200" dirty="0" err="1">
                <a:latin typeface="Monospac821 BT" panose="020B0609020202020204" pitchFamily="49" charset="0"/>
              </a:rPr>
              <a:t>spirit_box</a:t>
            </a:r>
            <a:r>
              <a:rPr lang="hu-HU" sz="1200" dirty="0">
                <a:latin typeface="Monospac821 BT" panose="020B0609020202020204" pitchFamily="49" charset="0"/>
              </a:rPr>
              <a:t>"&gt;</a:t>
            </a:r>
            <a:r>
              <a:rPr lang="hu-HU" sz="1200" dirty="0" err="1">
                <a:latin typeface="Monospac821 BT" panose="020B0609020202020204" pitchFamily="49" charset="0"/>
              </a:rPr>
              <a:t>Spirit</a:t>
            </a:r>
            <a:r>
              <a:rPr lang="hu-HU" sz="1200" dirty="0">
                <a:latin typeface="Monospac821 BT" panose="020B0609020202020204" pitchFamily="49" charset="0"/>
              </a:rPr>
              <a:t> </a:t>
            </a:r>
            <a:r>
              <a:rPr lang="hu-HU" sz="1200" dirty="0" err="1">
                <a:latin typeface="Monospac821 BT" panose="020B0609020202020204" pitchFamily="49" charset="0"/>
              </a:rPr>
              <a:t>Box</a:t>
            </a:r>
            <a:r>
              <a:rPr lang="hu-HU" sz="1200" dirty="0">
                <a:latin typeface="Monospac821 BT" panose="020B0609020202020204" pitchFamily="49" charset="0"/>
              </a:rPr>
              <a:t>&lt;/</a:t>
            </a:r>
            <a:r>
              <a:rPr lang="hu-HU" sz="1200" dirty="0" err="1">
                <a:latin typeface="Monospac821 BT" panose="020B0609020202020204" pitchFamily="49" charset="0"/>
              </a:rPr>
              <a:t>button</a:t>
            </a:r>
            <a:r>
              <a:rPr lang="hu-HU" sz="1200" dirty="0">
                <a:latin typeface="Monospac821 BT" panose="020B0609020202020204" pitchFamily="49" charset="0"/>
              </a:rPr>
              <a:t>&gt;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    &lt;</a:t>
            </a:r>
            <a:r>
              <a:rPr lang="hu-HU" sz="1200" dirty="0" err="1">
                <a:latin typeface="Monospac821 BT" panose="020B0609020202020204" pitchFamily="49" charset="0"/>
              </a:rPr>
              <a:t>button</a:t>
            </a:r>
            <a:r>
              <a:rPr lang="hu-HU" sz="1200" dirty="0">
                <a:latin typeface="Monospac821 BT" panose="020B0609020202020204" pitchFamily="49" charset="0"/>
              </a:rPr>
              <a:t> </a:t>
            </a:r>
            <a:r>
              <a:rPr lang="hu-HU" sz="1200" dirty="0" err="1">
                <a:latin typeface="Monospac821 BT" panose="020B0609020202020204" pitchFamily="49" charset="0"/>
              </a:rPr>
              <a:t>class</a:t>
            </a:r>
            <a:r>
              <a:rPr lang="hu-HU" sz="1200" dirty="0">
                <a:latin typeface="Monospac821 BT" panose="020B0609020202020204" pitchFamily="49" charset="0"/>
              </a:rPr>
              <a:t>="</a:t>
            </a:r>
            <a:r>
              <a:rPr lang="hu-HU" sz="1200" dirty="0" err="1">
                <a:latin typeface="Monospac821 BT" panose="020B0609020202020204" pitchFamily="49" charset="0"/>
              </a:rPr>
              <a:t>btn</a:t>
            </a:r>
            <a:r>
              <a:rPr lang="hu-HU" sz="1200" dirty="0">
                <a:latin typeface="Monospac821 BT" panose="020B0609020202020204" pitchFamily="49" charset="0"/>
              </a:rPr>
              <a:t> </a:t>
            </a:r>
            <a:r>
              <a:rPr lang="hu-HU" sz="1200" dirty="0" err="1">
                <a:latin typeface="Monospac821 BT" panose="020B0609020202020204" pitchFamily="49" charset="0"/>
              </a:rPr>
              <a:t>btn</a:t>
            </a:r>
            <a:r>
              <a:rPr lang="hu-HU" sz="1200" dirty="0">
                <a:latin typeface="Monospac821 BT" panose="020B0609020202020204" pitchFamily="49" charset="0"/>
              </a:rPr>
              <a:t>-outline-</a:t>
            </a:r>
            <a:r>
              <a:rPr lang="hu-HU" sz="1200" dirty="0" err="1">
                <a:latin typeface="Monospac821 BT" panose="020B0609020202020204" pitchFamily="49" charset="0"/>
              </a:rPr>
              <a:t>danger</a:t>
            </a:r>
            <a:r>
              <a:rPr lang="hu-HU" sz="1200" dirty="0">
                <a:latin typeface="Monospac821 BT" panose="020B0609020202020204" pitchFamily="49" charset="0"/>
              </a:rPr>
              <a:t> filter-</a:t>
            </a:r>
            <a:r>
              <a:rPr lang="hu-HU" sz="1200" dirty="0" err="1">
                <a:latin typeface="Monospac821 BT" panose="020B0609020202020204" pitchFamily="49" charset="0"/>
              </a:rPr>
              <a:t>btn</a:t>
            </a:r>
            <a:r>
              <a:rPr lang="hu-HU" sz="1200" dirty="0">
                <a:latin typeface="Monospac821 BT" panose="020B0609020202020204" pitchFamily="49" charset="0"/>
              </a:rPr>
              <a:t>" </a:t>
            </a:r>
            <a:r>
              <a:rPr lang="hu-HU" sz="1200" dirty="0" err="1">
                <a:latin typeface="Monospac821 BT" panose="020B0609020202020204" pitchFamily="49" charset="0"/>
              </a:rPr>
              <a:t>data</a:t>
            </a:r>
            <a:r>
              <a:rPr lang="hu-HU" sz="1200" dirty="0">
                <a:latin typeface="Monospac821 BT" panose="020B0609020202020204" pitchFamily="49" charset="0"/>
              </a:rPr>
              <a:t>-filter="</a:t>
            </a:r>
            <a:r>
              <a:rPr lang="hu-HU" sz="1200" dirty="0" err="1">
                <a:latin typeface="Monospac821 BT" panose="020B0609020202020204" pitchFamily="49" charset="0"/>
              </a:rPr>
              <a:t>freezing</a:t>
            </a:r>
            <a:r>
              <a:rPr lang="hu-HU" sz="1200" dirty="0">
                <a:latin typeface="Monospac821 BT" panose="020B0609020202020204" pitchFamily="49" charset="0"/>
              </a:rPr>
              <a:t>"&gt;</a:t>
            </a:r>
            <a:r>
              <a:rPr lang="hu-HU" sz="1200" dirty="0" err="1">
                <a:latin typeface="Monospac821 BT" panose="020B0609020202020204" pitchFamily="49" charset="0"/>
              </a:rPr>
              <a:t>Freezing</a:t>
            </a:r>
            <a:r>
              <a:rPr lang="hu-HU" sz="1200" dirty="0">
                <a:latin typeface="Monospac821 BT" panose="020B0609020202020204" pitchFamily="49" charset="0"/>
              </a:rPr>
              <a:t>&lt;/</a:t>
            </a:r>
            <a:r>
              <a:rPr lang="hu-HU" sz="1200" dirty="0" err="1">
                <a:latin typeface="Monospac821 BT" panose="020B0609020202020204" pitchFamily="49" charset="0"/>
              </a:rPr>
              <a:t>button</a:t>
            </a:r>
            <a:r>
              <a:rPr lang="hu-HU" sz="1200" dirty="0">
                <a:latin typeface="Monospac821 BT" panose="020B0609020202020204" pitchFamily="49" charset="0"/>
              </a:rPr>
              <a:t>&gt;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    &lt;</a:t>
            </a:r>
            <a:r>
              <a:rPr lang="hu-HU" sz="1200" dirty="0" err="1">
                <a:latin typeface="Monospac821 BT" panose="020B0609020202020204" pitchFamily="49" charset="0"/>
              </a:rPr>
              <a:t>button</a:t>
            </a:r>
            <a:r>
              <a:rPr lang="hu-HU" sz="1200" dirty="0">
                <a:latin typeface="Monospac821 BT" panose="020B0609020202020204" pitchFamily="49" charset="0"/>
              </a:rPr>
              <a:t> </a:t>
            </a:r>
            <a:r>
              <a:rPr lang="hu-HU" sz="1200" dirty="0" err="1">
                <a:latin typeface="Monospac821 BT" panose="020B0609020202020204" pitchFamily="49" charset="0"/>
              </a:rPr>
              <a:t>class</a:t>
            </a:r>
            <a:r>
              <a:rPr lang="hu-HU" sz="1200" dirty="0">
                <a:latin typeface="Monospac821 BT" panose="020B0609020202020204" pitchFamily="49" charset="0"/>
              </a:rPr>
              <a:t>="</a:t>
            </a:r>
            <a:r>
              <a:rPr lang="hu-HU" sz="1200" dirty="0" err="1">
                <a:latin typeface="Monospac821 BT" panose="020B0609020202020204" pitchFamily="49" charset="0"/>
              </a:rPr>
              <a:t>btn</a:t>
            </a:r>
            <a:r>
              <a:rPr lang="hu-HU" sz="1200" dirty="0">
                <a:latin typeface="Monospac821 BT" panose="020B0609020202020204" pitchFamily="49" charset="0"/>
              </a:rPr>
              <a:t> </a:t>
            </a:r>
            <a:r>
              <a:rPr lang="hu-HU" sz="1200" dirty="0" err="1">
                <a:latin typeface="Monospac821 BT" panose="020B0609020202020204" pitchFamily="49" charset="0"/>
              </a:rPr>
              <a:t>btn</a:t>
            </a:r>
            <a:r>
              <a:rPr lang="hu-HU" sz="1200" dirty="0">
                <a:latin typeface="Monospac821 BT" panose="020B0609020202020204" pitchFamily="49" charset="0"/>
              </a:rPr>
              <a:t>-outline-</a:t>
            </a:r>
            <a:r>
              <a:rPr lang="hu-HU" sz="1200" dirty="0" err="1">
                <a:latin typeface="Monospac821 BT" panose="020B0609020202020204" pitchFamily="49" charset="0"/>
              </a:rPr>
              <a:t>danger</a:t>
            </a:r>
            <a:r>
              <a:rPr lang="hu-HU" sz="1200" dirty="0">
                <a:latin typeface="Monospac821 BT" panose="020B0609020202020204" pitchFamily="49" charset="0"/>
              </a:rPr>
              <a:t> filter-</a:t>
            </a:r>
            <a:r>
              <a:rPr lang="hu-HU" sz="1200" dirty="0" err="1">
                <a:latin typeface="Monospac821 BT" panose="020B0609020202020204" pitchFamily="49" charset="0"/>
              </a:rPr>
              <a:t>btn</a:t>
            </a:r>
            <a:r>
              <a:rPr lang="hu-HU" sz="1200" dirty="0">
                <a:latin typeface="Monospac821 BT" panose="020B0609020202020204" pitchFamily="49" charset="0"/>
              </a:rPr>
              <a:t>" </a:t>
            </a:r>
            <a:r>
              <a:rPr lang="hu-HU" sz="1200" dirty="0" err="1">
                <a:latin typeface="Monospac821 BT" panose="020B0609020202020204" pitchFamily="49" charset="0"/>
              </a:rPr>
              <a:t>data</a:t>
            </a:r>
            <a:r>
              <a:rPr lang="hu-HU" sz="1200" dirty="0">
                <a:latin typeface="Monospac821 BT" panose="020B0609020202020204" pitchFamily="49" charset="0"/>
              </a:rPr>
              <a:t>-filter="</a:t>
            </a:r>
            <a:r>
              <a:rPr lang="hu-HU" sz="1200" dirty="0" err="1">
                <a:latin typeface="Monospac821 BT" panose="020B0609020202020204" pitchFamily="49" charset="0"/>
              </a:rPr>
              <a:t>orb</a:t>
            </a:r>
            <a:r>
              <a:rPr lang="hu-HU" sz="1200" dirty="0">
                <a:latin typeface="Monospac821 BT" panose="020B0609020202020204" pitchFamily="49" charset="0"/>
              </a:rPr>
              <a:t>"&gt;</a:t>
            </a:r>
            <a:r>
              <a:rPr lang="hu-HU" sz="1200" dirty="0" err="1">
                <a:latin typeface="Monospac821 BT" panose="020B0609020202020204" pitchFamily="49" charset="0"/>
              </a:rPr>
              <a:t>Ghost</a:t>
            </a:r>
            <a:r>
              <a:rPr lang="hu-HU" sz="1200" dirty="0">
                <a:latin typeface="Monospac821 BT" panose="020B0609020202020204" pitchFamily="49" charset="0"/>
              </a:rPr>
              <a:t> </a:t>
            </a:r>
            <a:r>
              <a:rPr lang="hu-HU" sz="1200" dirty="0" err="1">
                <a:latin typeface="Monospac821 BT" panose="020B0609020202020204" pitchFamily="49" charset="0"/>
              </a:rPr>
              <a:t>Orb</a:t>
            </a:r>
            <a:r>
              <a:rPr lang="hu-HU" sz="1200" dirty="0">
                <a:latin typeface="Monospac821 BT" panose="020B0609020202020204" pitchFamily="49" charset="0"/>
              </a:rPr>
              <a:t>&lt;/</a:t>
            </a:r>
            <a:r>
              <a:rPr lang="hu-HU" sz="1200" dirty="0" err="1">
                <a:latin typeface="Monospac821 BT" panose="020B0609020202020204" pitchFamily="49" charset="0"/>
              </a:rPr>
              <a:t>button</a:t>
            </a:r>
            <a:r>
              <a:rPr lang="hu-HU" sz="1200" dirty="0">
                <a:latin typeface="Monospac821 BT" panose="020B0609020202020204" pitchFamily="49" charset="0"/>
              </a:rPr>
              <a:t>&gt;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    &lt;</a:t>
            </a:r>
            <a:r>
              <a:rPr lang="hu-HU" sz="1200" dirty="0" err="1">
                <a:latin typeface="Monospac821 BT" panose="020B0609020202020204" pitchFamily="49" charset="0"/>
              </a:rPr>
              <a:t>button</a:t>
            </a:r>
            <a:r>
              <a:rPr lang="hu-HU" sz="1200" dirty="0">
                <a:latin typeface="Monospac821 BT" panose="020B0609020202020204" pitchFamily="49" charset="0"/>
              </a:rPr>
              <a:t> </a:t>
            </a:r>
            <a:r>
              <a:rPr lang="hu-HU" sz="1200" dirty="0" err="1">
                <a:latin typeface="Monospac821 BT" panose="020B0609020202020204" pitchFamily="49" charset="0"/>
              </a:rPr>
              <a:t>class</a:t>
            </a:r>
            <a:r>
              <a:rPr lang="hu-HU" sz="1200" dirty="0">
                <a:latin typeface="Monospac821 BT" panose="020B0609020202020204" pitchFamily="49" charset="0"/>
              </a:rPr>
              <a:t>="</a:t>
            </a:r>
            <a:r>
              <a:rPr lang="hu-HU" sz="1200" dirty="0" err="1">
                <a:latin typeface="Monospac821 BT" panose="020B0609020202020204" pitchFamily="49" charset="0"/>
              </a:rPr>
              <a:t>btn</a:t>
            </a:r>
            <a:r>
              <a:rPr lang="hu-HU" sz="1200" dirty="0">
                <a:latin typeface="Monospac821 BT" panose="020B0609020202020204" pitchFamily="49" charset="0"/>
              </a:rPr>
              <a:t> </a:t>
            </a:r>
            <a:r>
              <a:rPr lang="hu-HU" sz="1200" dirty="0" err="1">
                <a:latin typeface="Monospac821 BT" panose="020B0609020202020204" pitchFamily="49" charset="0"/>
              </a:rPr>
              <a:t>btn</a:t>
            </a:r>
            <a:r>
              <a:rPr lang="hu-HU" sz="1200" dirty="0">
                <a:latin typeface="Monospac821 BT" panose="020B0609020202020204" pitchFamily="49" charset="0"/>
              </a:rPr>
              <a:t>-outline-</a:t>
            </a:r>
            <a:r>
              <a:rPr lang="hu-HU" sz="1200" dirty="0" err="1">
                <a:latin typeface="Monospac821 BT" panose="020B0609020202020204" pitchFamily="49" charset="0"/>
              </a:rPr>
              <a:t>danger</a:t>
            </a:r>
            <a:r>
              <a:rPr lang="hu-HU" sz="1200" dirty="0">
                <a:latin typeface="Monospac821 BT" panose="020B0609020202020204" pitchFamily="49" charset="0"/>
              </a:rPr>
              <a:t> filter-</a:t>
            </a:r>
            <a:r>
              <a:rPr lang="hu-HU" sz="1200" dirty="0" err="1">
                <a:latin typeface="Monospac821 BT" panose="020B0609020202020204" pitchFamily="49" charset="0"/>
              </a:rPr>
              <a:t>btn</a:t>
            </a:r>
            <a:r>
              <a:rPr lang="hu-HU" sz="1200" dirty="0">
                <a:latin typeface="Monospac821 BT" panose="020B0609020202020204" pitchFamily="49" charset="0"/>
              </a:rPr>
              <a:t>" </a:t>
            </a:r>
            <a:r>
              <a:rPr lang="hu-HU" sz="1200" dirty="0" err="1">
                <a:latin typeface="Monospac821 BT" panose="020B0609020202020204" pitchFamily="49" charset="0"/>
              </a:rPr>
              <a:t>data</a:t>
            </a:r>
            <a:r>
              <a:rPr lang="hu-HU" sz="1200" dirty="0">
                <a:latin typeface="Monospac821 BT" panose="020B0609020202020204" pitchFamily="49" charset="0"/>
              </a:rPr>
              <a:t>-filter="</a:t>
            </a:r>
            <a:r>
              <a:rPr lang="hu-HU" sz="1200" dirty="0" err="1">
                <a:latin typeface="Monospac821 BT" panose="020B0609020202020204" pitchFamily="49" charset="0"/>
              </a:rPr>
              <a:t>writing</a:t>
            </a:r>
            <a:r>
              <a:rPr lang="hu-HU" sz="1200" dirty="0">
                <a:latin typeface="Monospac821 BT" panose="020B0609020202020204" pitchFamily="49" charset="0"/>
              </a:rPr>
              <a:t>"&gt;</a:t>
            </a:r>
            <a:r>
              <a:rPr lang="hu-HU" sz="1200" dirty="0" err="1">
                <a:latin typeface="Monospac821 BT" panose="020B0609020202020204" pitchFamily="49" charset="0"/>
              </a:rPr>
              <a:t>Writing</a:t>
            </a:r>
            <a:r>
              <a:rPr lang="hu-HU" sz="1200" dirty="0">
                <a:latin typeface="Monospac821 BT" panose="020B0609020202020204" pitchFamily="49" charset="0"/>
              </a:rPr>
              <a:t>&lt;/</a:t>
            </a:r>
            <a:r>
              <a:rPr lang="hu-HU" sz="1200" dirty="0" err="1">
                <a:latin typeface="Monospac821 BT" panose="020B0609020202020204" pitchFamily="49" charset="0"/>
              </a:rPr>
              <a:t>button</a:t>
            </a:r>
            <a:r>
              <a:rPr lang="hu-HU" sz="1200" dirty="0">
                <a:latin typeface="Monospac821 BT" panose="020B0609020202020204" pitchFamily="49" charset="0"/>
              </a:rPr>
              <a:t>&gt;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    &lt;</a:t>
            </a:r>
            <a:r>
              <a:rPr lang="hu-HU" sz="1200" dirty="0" err="1">
                <a:latin typeface="Monospac821 BT" panose="020B0609020202020204" pitchFamily="49" charset="0"/>
              </a:rPr>
              <a:t>button</a:t>
            </a:r>
            <a:r>
              <a:rPr lang="hu-HU" sz="1200" dirty="0">
                <a:latin typeface="Monospac821 BT" panose="020B0609020202020204" pitchFamily="49" charset="0"/>
              </a:rPr>
              <a:t> </a:t>
            </a:r>
            <a:r>
              <a:rPr lang="hu-HU" sz="1200" dirty="0" err="1">
                <a:latin typeface="Monospac821 BT" panose="020B0609020202020204" pitchFamily="49" charset="0"/>
              </a:rPr>
              <a:t>class</a:t>
            </a:r>
            <a:r>
              <a:rPr lang="hu-HU" sz="1200" dirty="0">
                <a:latin typeface="Monospac821 BT" panose="020B0609020202020204" pitchFamily="49" charset="0"/>
              </a:rPr>
              <a:t>="</a:t>
            </a:r>
            <a:r>
              <a:rPr lang="hu-HU" sz="1200" dirty="0" err="1">
                <a:latin typeface="Monospac821 BT" panose="020B0609020202020204" pitchFamily="49" charset="0"/>
              </a:rPr>
              <a:t>btn</a:t>
            </a:r>
            <a:r>
              <a:rPr lang="hu-HU" sz="1200" dirty="0">
                <a:latin typeface="Monospac821 BT" panose="020B0609020202020204" pitchFamily="49" charset="0"/>
              </a:rPr>
              <a:t> </a:t>
            </a:r>
            <a:r>
              <a:rPr lang="hu-HU" sz="1200" dirty="0" err="1">
                <a:latin typeface="Monospac821 BT" panose="020B0609020202020204" pitchFamily="49" charset="0"/>
              </a:rPr>
              <a:t>btn</a:t>
            </a:r>
            <a:r>
              <a:rPr lang="hu-HU" sz="1200" dirty="0">
                <a:latin typeface="Monospac821 BT" panose="020B0609020202020204" pitchFamily="49" charset="0"/>
              </a:rPr>
              <a:t>-outline-</a:t>
            </a:r>
            <a:r>
              <a:rPr lang="hu-HU" sz="1200" dirty="0" err="1">
                <a:latin typeface="Monospac821 BT" panose="020B0609020202020204" pitchFamily="49" charset="0"/>
              </a:rPr>
              <a:t>danger</a:t>
            </a:r>
            <a:r>
              <a:rPr lang="hu-HU" sz="1200" dirty="0">
                <a:latin typeface="Monospac821 BT" panose="020B0609020202020204" pitchFamily="49" charset="0"/>
              </a:rPr>
              <a:t> filter-</a:t>
            </a:r>
            <a:r>
              <a:rPr lang="hu-HU" sz="1200" dirty="0" err="1">
                <a:latin typeface="Monospac821 BT" panose="020B0609020202020204" pitchFamily="49" charset="0"/>
              </a:rPr>
              <a:t>btn</a:t>
            </a:r>
            <a:r>
              <a:rPr lang="hu-HU" sz="1200" dirty="0">
                <a:latin typeface="Monospac821 BT" panose="020B0609020202020204" pitchFamily="49" charset="0"/>
              </a:rPr>
              <a:t>" </a:t>
            </a:r>
            <a:r>
              <a:rPr lang="hu-HU" sz="1200" dirty="0" err="1">
                <a:latin typeface="Monospac821 BT" panose="020B0609020202020204" pitchFamily="49" charset="0"/>
              </a:rPr>
              <a:t>data</a:t>
            </a:r>
            <a:r>
              <a:rPr lang="hu-HU" sz="1200" dirty="0">
                <a:latin typeface="Monospac821 BT" panose="020B0609020202020204" pitchFamily="49" charset="0"/>
              </a:rPr>
              <a:t>-filter="</a:t>
            </a:r>
            <a:r>
              <a:rPr lang="hu-HU" sz="1200" dirty="0" err="1">
                <a:latin typeface="Monospac821 BT" panose="020B0609020202020204" pitchFamily="49" charset="0"/>
              </a:rPr>
              <a:t>dots</a:t>
            </a:r>
            <a:r>
              <a:rPr lang="hu-HU" sz="1200" dirty="0">
                <a:latin typeface="Monospac821 BT" panose="020B0609020202020204" pitchFamily="49" charset="0"/>
              </a:rPr>
              <a:t>"&gt;DOTS&lt;/</a:t>
            </a:r>
            <a:r>
              <a:rPr lang="hu-HU" sz="1200" dirty="0" err="1">
                <a:latin typeface="Monospac821 BT" panose="020B0609020202020204" pitchFamily="49" charset="0"/>
              </a:rPr>
              <a:t>button</a:t>
            </a:r>
            <a:r>
              <a:rPr lang="hu-HU" sz="1200" dirty="0">
                <a:latin typeface="Monospac821 BT" panose="020B0609020202020204" pitchFamily="49" charset="0"/>
              </a:rPr>
              <a:t>&gt;</a:t>
            </a:r>
          </a:p>
          <a:p>
            <a:endParaRPr lang="hu-HU" sz="1200" dirty="0">
              <a:latin typeface="Monospac821 BT" panose="020B0609020202020204" pitchFamily="49" charset="0"/>
            </a:endParaRPr>
          </a:p>
          <a:p>
            <a:r>
              <a:rPr lang="hu-HU" sz="1200" dirty="0">
                <a:latin typeface="Monospac821 BT" panose="020B0609020202020204" pitchFamily="49" charset="0"/>
              </a:rPr>
              <a:t>    &lt;</a:t>
            </a:r>
            <a:r>
              <a:rPr lang="hu-HU" sz="1200" dirty="0" err="1">
                <a:latin typeface="Monospac821 BT" panose="020B0609020202020204" pitchFamily="49" charset="0"/>
              </a:rPr>
              <a:t>button</a:t>
            </a:r>
            <a:r>
              <a:rPr lang="hu-HU" sz="1200" dirty="0">
                <a:latin typeface="Monospac821 BT" panose="020B0609020202020204" pitchFamily="49" charset="0"/>
              </a:rPr>
              <a:t> </a:t>
            </a:r>
            <a:r>
              <a:rPr lang="hu-HU" sz="1200" dirty="0" err="1">
                <a:latin typeface="Monospac821 BT" panose="020B0609020202020204" pitchFamily="49" charset="0"/>
              </a:rPr>
              <a:t>class</a:t>
            </a:r>
            <a:r>
              <a:rPr lang="hu-HU" sz="1200" dirty="0">
                <a:latin typeface="Monospac821 BT" panose="020B0609020202020204" pitchFamily="49" charset="0"/>
              </a:rPr>
              <a:t>="</a:t>
            </a:r>
            <a:r>
              <a:rPr lang="hu-HU" sz="1200" dirty="0" err="1">
                <a:latin typeface="Monospac821 BT" panose="020B0609020202020204" pitchFamily="49" charset="0"/>
              </a:rPr>
              <a:t>btn</a:t>
            </a:r>
            <a:r>
              <a:rPr lang="hu-HU" sz="1200" dirty="0">
                <a:latin typeface="Monospac821 BT" panose="020B0609020202020204" pitchFamily="49" charset="0"/>
              </a:rPr>
              <a:t> </a:t>
            </a:r>
            <a:r>
              <a:rPr lang="hu-HU" sz="1200" dirty="0" err="1">
                <a:latin typeface="Monospac821 BT" panose="020B0609020202020204" pitchFamily="49" charset="0"/>
              </a:rPr>
              <a:t>btn-danger</a:t>
            </a:r>
            <a:r>
              <a:rPr lang="hu-HU" sz="1200" dirty="0">
                <a:latin typeface="Monospac821 BT" panose="020B0609020202020204" pitchFamily="49" charset="0"/>
              </a:rPr>
              <a:t> ms-3" </a:t>
            </a:r>
            <a:r>
              <a:rPr lang="hu-HU" sz="1200" dirty="0" err="1">
                <a:latin typeface="Monospac821 BT" panose="020B0609020202020204" pitchFamily="49" charset="0"/>
              </a:rPr>
              <a:t>id</a:t>
            </a:r>
            <a:r>
              <a:rPr lang="hu-HU" sz="1200" dirty="0">
                <a:latin typeface="Monospac821 BT" panose="020B0609020202020204" pitchFamily="49" charset="0"/>
              </a:rPr>
              <a:t>="</a:t>
            </a:r>
            <a:r>
              <a:rPr lang="hu-HU" sz="1200" dirty="0" err="1">
                <a:latin typeface="Monospac821 BT" panose="020B0609020202020204" pitchFamily="49" charset="0"/>
              </a:rPr>
              <a:t>resetFilter</a:t>
            </a:r>
            <a:r>
              <a:rPr lang="hu-HU" sz="1200" dirty="0">
                <a:latin typeface="Monospac821 BT" panose="020B0609020202020204" pitchFamily="49" charset="0"/>
              </a:rPr>
              <a:t>"&gt;Összes&lt;/</a:t>
            </a:r>
            <a:r>
              <a:rPr lang="hu-HU" sz="1200" dirty="0" err="1">
                <a:latin typeface="Monospac821 BT" panose="020B0609020202020204" pitchFamily="49" charset="0"/>
              </a:rPr>
              <a:t>button</a:t>
            </a:r>
            <a:r>
              <a:rPr lang="hu-HU" sz="1200" dirty="0">
                <a:latin typeface="Monospac821 BT" panose="020B0609020202020204" pitchFamily="49" charset="0"/>
              </a:rPr>
              <a:t>&gt;</a:t>
            </a:r>
          </a:p>
          <a:p>
            <a:endParaRPr lang="hu-HU" sz="1200" dirty="0">
              <a:latin typeface="Monospac821 BT" panose="020B0609020202020204" pitchFamily="49" charset="0"/>
            </a:endParaRPr>
          </a:p>
          <a:p>
            <a:r>
              <a:rPr lang="hu-HU" sz="1200" dirty="0">
                <a:latin typeface="Monospac821 BT" panose="020B0609020202020204" pitchFamily="49" charset="0"/>
              </a:rPr>
              <a:t>&lt;/div&gt;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FF9D4819-8761-474F-B55C-D968C9FC223D}"/>
              </a:ext>
            </a:extLst>
          </p:cNvPr>
          <p:cNvSpPr txBox="1"/>
          <p:nvPr/>
        </p:nvSpPr>
        <p:spPr>
          <a:xfrm>
            <a:off x="7483876" y="1030892"/>
            <a:ext cx="336832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Minden egyes nyomógomb egy adott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evidence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(bizonyíték) – ért felel</a:t>
            </a:r>
            <a:r>
              <a:rPr lang="hu-H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612769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 helye 3">
            <a:extLst>
              <a:ext uri="{FF2B5EF4-FFF2-40B4-BE49-F238E27FC236}">
                <a16:creationId xmlns:a16="http://schemas.microsoft.com/office/drawing/2014/main" id="{A380262F-8C9A-4ACF-9766-4BB046BFD3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5156" y="1928349"/>
            <a:ext cx="2897411" cy="669708"/>
          </a:xfrm>
        </p:spPr>
        <p:txBody>
          <a:bodyPr>
            <a:noAutofit/>
          </a:bodyPr>
          <a:lstStyle/>
          <a:p>
            <a:r>
              <a:rPr lang="hu-HU" sz="3200" b="1" dirty="0"/>
              <a:t>Nyomógombok</a:t>
            </a:r>
          </a:p>
        </p:txBody>
      </p:sp>
      <p:sp>
        <p:nvSpPr>
          <p:cNvPr id="6" name="Cím 5">
            <a:extLst>
              <a:ext uri="{FF2B5EF4-FFF2-40B4-BE49-F238E27FC236}">
                <a16:creationId xmlns:a16="http://schemas.microsoft.com/office/drawing/2014/main" id="{2F31512E-B551-4349-852F-DD3A1FF07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05" y="279714"/>
            <a:ext cx="3949307" cy="1382697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hu-HU" sz="4000" u="sng" dirty="0"/>
              <a:t>Demonok.html</a:t>
            </a:r>
            <a:br>
              <a:rPr lang="hu-HU" dirty="0"/>
            </a:br>
            <a:r>
              <a:rPr lang="hu-HU" sz="2400" dirty="0"/>
              <a:t>Készítette:</a:t>
            </a:r>
            <a:br>
              <a:rPr lang="hu-HU" sz="2400" dirty="0"/>
            </a:br>
            <a:r>
              <a:rPr lang="hu-HU" sz="2400" dirty="0"/>
              <a:t>Konyári Botond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626E6684-46CA-4F1B-8DB6-D34D4F4FE28B}"/>
              </a:ext>
            </a:extLst>
          </p:cNvPr>
          <p:cNvSpPr txBox="1"/>
          <p:nvPr/>
        </p:nvSpPr>
        <p:spPr>
          <a:xfrm>
            <a:off x="419698" y="2373961"/>
            <a:ext cx="3368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Script (1)</a:t>
            </a: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185943A9-DFFA-48AE-96FA-7262C2D863EE}"/>
              </a:ext>
            </a:extLst>
          </p:cNvPr>
          <p:cNvSpPr txBox="1"/>
          <p:nvPr/>
        </p:nvSpPr>
        <p:spPr>
          <a:xfrm>
            <a:off x="4945776" y="982230"/>
            <a:ext cx="6027937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200" dirty="0">
                <a:latin typeface="Monospac821 BT" panose="020B0609020202020204" pitchFamily="49" charset="0"/>
              </a:rPr>
              <a:t>&lt;script&gt;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const </a:t>
            </a:r>
            <a:r>
              <a:rPr lang="hu-HU" sz="1200" dirty="0" err="1">
                <a:latin typeface="Monospac821 BT" panose="020B0609020202020204" pitchFamily="49" charset="0"/>
              </a:rPr>
              <a:t>buttons</a:t>
            </a:r>
            <a:r>
              <a:rPr lang="hu-HU" sz="1200" dirty="0">
                <a:latin typeface="Monospac821 BT" panose="020B0609020202020204" pitchFamily="49" charset="0"/>
              </a:rPr>
              <a:t> = </a:t>
            </a:r>
            <a:r>
              <a:rPr lang="hu-HU" sz="1200" dirty="0" err="1">
                <a:latin typeface="Monospac821 BT" panose="020B0609020202020204" pitchFamily="49" charset="0"/>
              </a:rPr>
              <a:t>document.querySelectorAll</a:t>
            </a:r>
            <a:r>
              <a:rPr lang="hu-HU" sz="1200" dirty="0">
                <a:latin typeface="Monospac821 BT" panose="020B0609020202020204" pitchFamily="49" charset="0"/>
              </a:rPr>
              <a:t>(".filter-</a:t>
            </a:r>
            <a:r>
              <a:rPr lang="hu-HU" sz="1200" dirty="0" err="1">
                <a:latin typeface="Monospac821 BT" panose="020B0609020202020204" pitchFamily="49" charset="0"/>
              </a:rPr>
              <a:t>btn</a:t>
            </a:r>
            <a:r>
              <a:rPr lang="hu-HU" sz="1200" dirty="0">
                <a:latin typeface="Monospac821 BT" panose="020B0609020202020204" pitchFamily="49" charset="0"/>
              </a:rPr>
              <a:t>");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const </a:t>
            </a:r>
            <a:r>
              <a:rPr lang="hu-HU" sz="1200" dirty="0" err="1">
                <a:latin typeface="Monospac821 BT" panose="020B0609020202020204" pitchFamily="49" charset="0"/>
              </a:rPr>
              <a:t>cards</a:t>
            </a:r>
            <a:r>
              <a:rPr lang="hu-HU" sz="1200" dirty="0">
                <a:latin typeface="Monospac821 BT" panose="020B0609020202020204" pitchFamily="49" charset="0"/>
              </a:rPr>
              <a:t> = </a:t>
            </a:r>
            <a:r>
              <a:rPr lang="hu-HU" sz="1200" dirty="0" err="1">
                <a:latin typeface="Monospac821 BT" panose="020B0609020202020204" pitchFamily="49" charset="0"/>
              </a:rPr>
              <a:t>document.querySelectorAll</a:t>
            </a:r>
            <a:r>
              <a:rPr lang="hu-HU" sz="1200" dirty="0">
                <a:latin typeface="Monospac821 BT" panose="020B0609020202020204" pitchFamily="49" charset="0"/>
              </a:rPr>
              <a:t>(".</a:t>
            </a:r>
            <a:r>
              <a:rPr lang="hu-HU" sz="1200" dirty="0" err="1">
                <a:latin typeface="Monospac821 BT" panose="020B0609020202020204" pitchFamily="49" charset="0"/>
              </a:rPr>
              <a:t>ghost-card</a:t>
            </a:r>
            <a:r>
              <a:rPr lang="hu-HU" sz="1200" dirty="0">
                <a:latin typeface="Monospac821 BT" panose="020B0609020202020204" pitchFamily="49" charset="0"/>
              </a:rPr>
              <a:t>");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const </a:t>
            </a:r>
            <a:r>
              <a:rPr lang="hu-HU" sz="1200" dirty="0" err="1">
                <a:latin typeface="Monospac821 BT" panose="020B0609020202020204" pitchFamily="49" charset="0"/>
              </a:rPr>
              <a:t>resetBtn</a:t>
            </a:r>
            <a:r>
              <a:rPr lang="hu-HU" sz="1200" dirty="0">
                <a:latin typeface="Monospac821 BT" panose="020B0609020202020204" pitchFamily="49" charset="0"/>
              </a:rPr>
              <a:t> = </a:t>
            </a:r>
            <a:r>
              <a:rPr lang="hu-HU" sz="1200" dirty="0" err="1">
                <a:latin typeface="Monospac821 BT" panose="020B0609020202020204" pitchFamily="49" charset="0"/>
              </a:rPr>
              <a:t>document.getElementById</a:t>
            </a:r>
            <a:r>
              <a:rPr lang="hu-HU" sz="1200" dirty="0">
                <a:latin typeface="Monospac821 BT" panose="020B0609020202020204" pitchFamily="49" charset="0"/>
              </a:rPr>
              <a:t>("</a:t>
            </a:r>
            <a:r>
              <a:rPr lang="hu-HU" sz="1200" dirty="0" err="1">
                <a:latin typeface="Monospac821 BT" panose="020B0609020202020204" pitchFamily="49" charset="0"/>
              </a:rPr>
              <a:t>resetFilter</a:t>
            </a:r>
            <a:r>
              <a:rPr lang="hu-HU" sz="1200" dirty="0">
                <a:latin typeface="Monospac821 BT" panose="020B0609020202020204" pitchFamily="49" charset="0"/>
              </a:rPr>
              <a:t>");</a:t>
            </a:r>
          </a:p>
          <a:p>
            <a:endParaRPr lang="hu-HU" sz="1200" dirty="0">
              <a:latin typeface="Monospac821 BT" panose="020B0609020202020204" pitchFamily="49" charset="0"/>
            </a:endParaRPr>
          </a:p>
          <a:p>
            <a:r>
              <a:rPr lang="hu-HU" sz="1200" dirty="0" err="1">
                <a:latin typeface="Monospac821 BT" panose="020B0609020202020204" pitchFamily="49" charset="0"/>
              </a:rPr>
              <a:t>buttons.forEach</a:t>
            </a:r>
            <a:r>
              <a:rPr lang="hu-HU" sz="1200" dirty="0">
                <a:latin typeface="Monospac821 BT" panose="020B0609020202020204" pitchFamily="49" charset="0"/>
              </a:rPr>
              <a:t>(</a:t>
            </a:r>
            <a:r>
              <a:rPr lang="hu-HU" sz="1200" dirty="0" err="1">
                <a:latin typeface="Monospac821 BT" panose="020B0609020202020204" pitchFamily="49" charset="0"/>
              </a:rPr>
              <a:t>button</a:t>
            </a:r>
            <a:r>
              <a:rPr lang="hu-HU" sz="1200" dirty="0">
                <a:latin typeface="Monospac821 BT" panose="020B0609020202020204" pitchFamily="49" charset="0"/>
              </a:rPr>
              <a:t> =&gt; {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    </a:t>
            </a:r>
            <a:r>
              <a:rPr lang="hu-HU" sz="1200" dirty="0" err="1">
                <a:latin typeface="Monospac821 BT" panose="020B0609020202020204" pitchFamily="49" charset="0"/>
              </a:rPr>
              <a:t>button.addEventListener</a:t>
            </a:r>
            <a:r>
              <a:rPr lang="hu-HU" sz="1200" dirty="0">
                <a:latin typeface="Monospac821 BT" panose="020B0609020202020204" pitchFamily="49" charset="0"/>
              </a:rPr>
              <a:t>("</a:t>
            </a:r>
            <a:r>
              <a:rPr lang="hu-HU" sz="1200" dirty="0" err="1">
                <a:latin typeface="Monospac821 BT" panose="020B0609020202020204" pitchFamily="49" charset="0"/>
              </a:rPr>
              <a:t>click</a:t>
            </a:r>
            <a:r>
              <a:rPr lang="hu-HU" sz="1200" dirty="0">
                <a:latin typeface="Monospac821 BT" panose="020B0609020202020204" pitchFamily="49" charset="0"/>
              </a:rPr>
              <a:t>", () =&gt; {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        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        // Aktív állapot váltás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        </a:t>
            </a:r>
            <a:r>
              <a:rPr lang="hu-HU" sz="1200" dirty="0" err="1">
                <a:latin typeface="Monospac821 BT" panose="020B0609020202020204" pitchFamily="49" charset="0"/>
              </a:rPr>
              <a:t>button.classList.toggle</a:t>
            </a:r>
            <a:r>
              <a:rPr lang="hu-HU" sz="1200" dirty="0">
                <a:latin typeface="Monospac821 BT" panose="020B0609020202020204" pitchFamily="49" charset="0"/>
              </a:rPr>
              <a:t>("</a:t>
            </a:r>
            <a:r>
              <a:rPr lang="hu-HU" sz="1200" dirty="0" err="1">
                <a:latin typeface="Monospac821 BT" panose="020B0609020202020204" pitchFamily="49" charset="0"/>
              </a:rPr>
              <a:t>active</a:t>
            </a:r>
            <a:r>
              <a:rPr lang="hu-HU" sz="1200" dirty="0">
                <a:latin typeface="Monospac821 BT" panose="020B0609020202020204" pitchFamily="49" charset="0"/>
              </a:rPr>
              <a:t>");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        </a:t>
            </a:r>
            <a:r>
              <a:rPr lang="hu-HU" sz="1200" dirty="0" err="1">
                <a:latin typeface="Monospac821 BT" panose="020B0609020202020204" pitchFamily="49" charset="0"/>
              </a:rPr>
              <a:t>button.classList.toggle</a:t>
            </a:r>
            <a:r>
              <a:rPr lang="hu-HU" sz="1200" dirty="0">
                <a:latin typeface="Monospac821 BT" panose="020B0609020202020204" pitchFamily="49" charset="0"/>
              </a:rPr>
              <a:t>("</a:t>
            </a:r>
            <a:r>
              <a:rPr lang="hu-HU" sz="1200" dirty="0" err="1">
                <a:latin typeface="Monospac821 BT" panose="020B0609020202020204" pitchFamily="49" charset="0"/>
              </a:rPr>
              <a:t>btn-danger</a:t>
            </a:r>
            <a:r>
              <a:rPr lang="hu-HU" sz="1200" dirty="0">
                <a:latin typeface="Monospac821 BT" panose="020B0609020202020204" pitchFamily="49" charset="0"/>
              </a:rPr>
              <a:t>");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        </a:t>
            </a:r>
            <a:r>
              <a:rPr lang="hu-HU" sz="1200" dirty="0" err="1">
                <a:latin typeface="Monospac821 BT" panose="020B0609020202020204" pitchFamily="49" charset="0"/>
              </a:rPr>
              <a:t>button.classList.toggle</a:t>
            </a:r>
            <a:r>
              <a:rPr lang="hu-HU" sz="1200" dirty="0">
                <a:latin typeface="Monospac821 BT" panose="020B0609020202020204" pitchFamily="49" charset="0"/>
              </a:rPr>
              <a:t>("</a:t>
            </a:r>
            <a:r>
              <a:rPr lang="hu-HU" sz="1200" dirty="0" err="1">
                <a:latin typeface="Monospac821 BT" panose="020B0609020202020204" pitchFamily="49" charset="0"/>
              </a:rPr>
              <a:t>btn</a:t>
            </a:r>
            <a:r>
              <a:rPr lang="hu-HU" sz="1200" dirty="0">
                <a:latin typeface="Monospac821 BT" panose="020B0609020202020204" pitchFamily="49" charset="0"/>
              </a:rPr>
              <a:t>-outline-</a:t>
            </a:r>
            <a:r>
              <a:rPr lang="hu-HU" sz="1200" dirty="0" err="1">
                <a:latin typeface="Monospac821 BT" panose="020B0609020202020204" pitchFamily="49" charset="0"/>
              </a:rPr>
              <a:t>danger</a:t>
            </a:r>
            <a:r>
              <a:rPr lang="hu-HU" sz="1200" dirty="0">
                <a:latin typeface="Monospac821 BT" panose="020B0609020202020204" pitchFamily="49" charset="0"/>
              </a:rPr>
              <a:t>");</a:t>
            </a:r>
          </a:p>
          <a:p>
            <a:endParaRPr lang="hu-HU" sz="1200" dirty="0">
              <a:latin typeface="Monospac821 BT" panose="020B0609020202020204" pitchFamily="49" charset="0"/>
            </a:endParaRPr>
          </a:p>
          <a:p>
            <a:r>
              <a:rPr lang="hu-HU" sz="1200" dirty="0">
                <a:latin typeface="Monospac821 BT" panose="020B0609020202020204" pitchFamily="49" charset="0"/>
              </a:rPr>
              <a:t>        </a:t>
            </a:r>
            <a:r>
              <a:rPr lang="hu-HU" sz="1200" dirty="0" err="1">
                <a:latin typeface="Monospac821 BT" panose="020B0609020202020204" pitchFamily="49" charset="0"/>
              </a:rPr>
              <a:t>applyFilters</a:t>
            </a:r>
            <a:r>
              <a:rPr lang="hu-HU" sz="1200" dirty="0">
                <a:latin typeface="Monospac821 BT" panose="020B0609020202020204" pitchFamily="49" charset="0"/>
              </a:rPr>
              <a:t>();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    });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});</a:t>
            </a:r>
          </a:p>
          <a:p>
            <a:endParaRPr lang="hu-HU" sz="1200" dirty="0">
              <a:latin typeface="Monospac821 BT" panose="020B0609020202020204" pitchFamily="49" charset="0"/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2291827B-F8E4-4FAE-B689-C7B68A45CDAE}"/>
              </a:ext>
            </a:extLst>
          </p:cNvPr>
          <p:cNvSpPr txBox="1"/>
          <p:nvPr/>
        </p:nvSpPr>
        <p:spPr>
          <a:xfrm>
            <a:off x="353341" y="3043669"/>
            <a:ext cx="3684233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script elején kiválasztjuk </a:t>
            </a:r>
            <a:b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.filter-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class-al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rendelkező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button-okat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(gomb)</a:t>
            </a:r>
          </a:p>
          <a:p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.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ghost-card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class-al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rendelkező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card-okat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(kártya)</a:t>
            </a:r>
          </a:p>
        </p:txBody>
      </p:sp>
    </p:spTree>
    <p:extLst>
      <p:ext uri="{BB962C8B-B14F-4D97-AF65-F5344CB8AC3E}">
        <p14:creationId xmlns:p14="http://schemas.microsoft.com/office/powerpoint/2010/main" val="38898270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switch dir="r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 helye 3">
            <a:extLst>
              <a:ext uri="{FF2B5EF4-FFF2-40B4-BE49-F238E27FC236}">
                <a16:creationId xmlns:a16="http://schemas.microsoft.com/office/drawing/2014/main" id="{A380262F-8C9A-4ACF-9766-4BB046BFD3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5156" y="1928349"/>
            <a:ext cx="2897411" cy="669708"/>
          </a:xfrm>
        </p:spPr>
        <p:txBody>
          <a:bodyPr>
            <a:noAutofit/>
          </a:bodyPr>
          <a:lstStyle/>
          <a:p>
            <a:r>
              <a:rPr lang="hu-HU" sz="3200" b="1" dirty="0"/>
              <a:t>Nyomógombok</a:t>
            </a:r>
          </a:p>
        </p:txBody>
      </p:sp>
      <p:sp>
        <p:nvSpPr>
          <p:cNvPr id="6" name="Cím 5">
            <a:extLst>
              <a:ext uri="{FF2B5EF4-FFF2-40B4-BE49-F238E27FC236}">
                <a16:creationId xmlns:a16="http://schemas.microsoft.com/office/drawing/2014/main" id="{2F31512E-B551-4349-852F-DD3A1FF07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05" y="279714"/>
            <a:ext cx="3949307" cy="1382697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hu-HU" sz="4000" u="sng" dirty="0"/>
              <a:t>Demonok.html</a:t>
            </a:r>
            <a:br>
              <a:rPr lang="hu-HU" dirty="0"/>
            </a:br>
            <a:r>
              <a:rPr lang="hu-HU" sz="2400" dirty="0"/>
              <a:t>Készítette:</a:t>
            </a:r>
            <a:br>
              <a:rPr lang="hu-HU" sz="2400" dirty="0"/>
            </a:br>
            <a:r>
              <a:rPr lang="hu-HU" sz="2400" dirty="0"/>
              <a:t>Konyári Botond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626E6684-46CA-4F1B-8DB6-D34D4F4FE28B}"/>
              </a:ext>
            </a:extLst>
          </p:cNvPr>
          <p:cNvSpPr txBox="1"/>
          <p:nvPr/>
        </p:nvSpPr>
        <p:spPr>
          <a:xfrm>
            <a:off x="419698" y="2373961"/>
            <a:ext cx="3368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Script (1)</a:t>
            </a: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185943A9-DFFA-48AE-96FA-7262C2D863EE}"/>
              </a:ext>
            </a:extLst>
          </p:cNvPr>
          <p:cNvSpPr txBox="1"/>
          <p:nvPr/>
        </p:nvSpPr>
        <p:spPr>
          <a:xfrm>
            <a:off x="4945776" y="982230"/>
            <a:ext cx="6027937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200" dirty="0">
                <a:latin typeface="Monospac821 BT" panose="020B0609020202020204" pitchFamily="49" charset="0"/>
              </a:rPr>
              <a:t>&lt;script&gt;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const </a:t>
            </a:r>
            <a:r>
              <a:rPr lang="hu-HU" sz="1200" dirty="0" err="1">
                <a:latin typeface="Monospac821 BT" panose="020B0609020202020204" pitchFamily="49" charset="0"/>
              </a:rPr>
              <a:t>buttons</a:t>
            </a:r>
            <a:r>
              <a:rPr lang="hu-HU" sz="1200" dirty="0">
                <a:latin typeface="Monospac821 BT" panose="020B0609020202020204" pitchFamily="49" charset="0"/>
              </a:rPr>
              <a:t> = </a:t>
            </a:r>
            <a:r>
              <a:rPr lang="hu-HU" sz="1200" dirty="0" err="1">
                <a:latin typeface="Monospac821 BT" panose="020B0609020202020204" pitchFamily="49" charset="0"/>
              </a:rPr>
              <a:t>document.querySelectorAll</a:t>
            </a:r>
            <a:r>
              <a:rPr lang="hu-HU" sz="1200" dirty="0">
                <a:latin typeface="Monospac821 BT" panose="020B0609020202020204" pitchFamily="49" charset="0"/>
              </a:rPr>
              <a:t>(".filter-</a:t>
            </a:r>
            <a:r>
              <a:rPr lang="hu-HU" sz="1200" dirty="0" err="1">
                <a:latin typeface="Monospac821 BT" panose="020B0609020202020204" pitchFamily="49" charset="0"/>
              </a:rPr>
              <a:t>btn</a:t>
            </a:r>
            <a:r>
              <a:rPr lang="hu-HU" sz="1200" dirty="0">
                <a:latin typeface="Monospac821 BT" panose="020B0609020202020204" pitchFamily="49" charset="0"/>
              </a:rPr>
              <a:t>");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const </a:t>
            </a:r>
            <a:r>
              <a:rPr lang="hu-HU" sz="1200" dirty="0" err="1">
                <a:latin typeface="Monospac821 BT" panose="020B0609020202020204" pitchFamily="49" charset="0"/>
              </a:rPr>
              <a:t>cards</a:t>
            </a:r>
            <a:r>
              <a:rPr lang="hu-HU" sz="1200" dirty="0">
                <a:latin typeface="Monospac821 BT" panose="020B0609020202020204" pitchFamily="49" charset="0"/>
              </a:rPr>
              <a:t> = </a:t>
            </a:r>
            <a:r>
              <a:rPr lang="hu-HU" sz="1200" dirty="0" err="1">
                <a:latin typeface="Monospac821 BT" panose="020B0609020202020204" pitchFamily="49" charset="0"/>
              </a:rPr>
              <a:t>document.querySelectorAll</a:t>
            </a:r>
            <a:r>
              <a:rPr lang="hu-HU" sz="1200" dirty="0">
                <a:latin typeface="Monospac821 BT" panose="020B0609020202020204" pitchFamily="49" charset="0"/>
              </a:rPr>
              <a:t>(".</a:t>
            </a:r>
            <a:r>
              <a:rPr lang="hu-HU" sz="1200" dirty="0" err="1">
                <a:latin typeface="Monospac821 BT" panose="020B0609020202020204" pitchFamily="49" charset="0"/>
              </a:rPr>
              <a:t>ghost-card</a:t>
            </a:r>
            <a:r>
              <a:rPr lang="hu-HU" sz="1200" dirty="0">
                <a:latin typeface="Monospac821 BT" panose="020B0609020202020204" pitchFamily="49" charset="0"/>
              </a:rPr>
              <a:t>");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const </a:t>
            </a:r>
            <a:r>
              <a:rPr lang="hu-HU" sz="1200" dirty="0" err="1">
                <a:latin typeface="Monospac821 BT" panose="020B0609020202020204" pitchFamily="49" charset="0"/>
              </a:rPr>
              <a:t>resetBtn</a:t>
            </a:r>
            <a:r>
              <a:rPr lang="hu-HU" sz="1200" dirty="0">
                <a:latin typeface="Monospac821 BT" panose="020B0609020202020204" pitchFamily="49" charset="0"/>
              </a:rPr>
              <a:t> = </a:t>
            </a:r>
            <a:r>
              <a:rPr lang="hu-HU" sz="1200" dirty="0" err="1">
                <a:latin typeface="Monospac821 BT" panose="020B0609020202020204" pitchFamily="49" charset="0"/>
              </a:rPr>
              <a:t>document.getElementById</a:t>
            </a:r>
            <a:r>
              <a:rPr lang="hu-HU" sz="1200" dirty="0">
                <a:latin typeface="Monospac821 BT" panose="020B0609020202020204" pitchFamily="49" charset="0"/>
              </a:rPr>
              <a:t>("</a:t>
            </a:r>
            <a:r>
              <a:rPr lang="hu-HU" sz="1200" dirty="0" err="1">
                <a:latin typeface="Monospac821 BT" panose="020B0609020202020204" pitchFamily="49" charset="0"/>
              </a:rPr>
              <a:t>resetFilter</a:t>
            </a:r>
            <a:r>
              <a:rPr lang="hu-HU" sz="1200" dirty="0">
                <a:latin typeface="Monospac821 BT" panose="020B0609020202020204" pitchFamily="49" charset="0"/>
              </a:rPr>
              <a:t>");</a:t>
            </a:r>
          </a:p>
          <a:p>
            <a:endParaRPr lang="hu-HU" sz="1200" dirty="0">
              <a:latin typeface="Monospac821 BT" panose="020B0609020202020204" pitchFamily="49" charset="0"/>
            </a:endParaRPr>
          </a:p>
          <a:p>
            <a:r>
              <a:rPr lang="hu-HU" sz="1200" dirty="0" err="1">
                <a:latin typeface="Monospac821 BT" panose="020B0609020202020204" pitchFamily="49" charset="0"/>
              </a:rPr>
              <a:t>buttons.forEach</a:t>
            </a:r>
            <a:r>
              <a:rPr lang="hu-HU" sz="1200" dirty="0">
                <a:latin typeface="Monospac821 BT" panose="020B0609020202020204" pitchFamily="49" charset="0"/>
              </a:rPr>
              <a:t>(</a:t>
            </a:r>
            <a:r>
              <a:rPr lang="hu-HU" sz="1200" dirty="0" err="1">
                <a:latin typeface="Monospac821 BT" panose="020B0609020202020204" pitchFamily="49" charset="0"/>
              </a:rPr>
              <a:t>button</a:t>
            </a:r>
            <a:r>
              <a:rPr lang="hu-HU" sz="1200" dirty="0">
                <a:latin typeface="Monospac821 BT" panose="020B0609020202020204" pitchFamily="49" charset="0"/>
              </a:rPr>
              <a:t> =&gt; {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    </a:t>
            </a:r>
            <a:r>
              <a:rPr lang="hu-HU" sz="1200" dirty="0" err="1">
                <a:latin typeface="Monospac821 BT" panose="020B0609020202020204" pitchFamily="49" charset="0"/>
              </a:rPr>
              <a:t>button.addEventListener</a:t>
            </a:r>
            <a:r>
              <a:rPr lang="hu-HU" sz="1200" dirty="0">
                <a:latin typeface="Monospac821 BT" panose="020B0609020202020204" pitchFamily="49" charset="0"/>
              </a:rPr>
              <a:t>("</a:t>
            </a:r>
            <a:r>
              <a:rPr lang="hu-HU" sz="1200" dirty="0" err="1">
                <a:latin typeface="Monospac821 BT" panose="020B0609020202020204" pitchFamily="49" charset="0"/>
              </a:rPr>
              <a:t>click</a:t>
            </a:r>
            <a:r>
              <a:rPr lang="hu-HU" sz="1200" dirty="0">
                <a:latin typeface="Monospac821 BT" panose="020B0609020202020204" pitchFamily="49" charset="0"/>
              </a:rPr>
              <a:t>", () =&gt; {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        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        // Aktív állapot váltás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        </a:t>
            </a:r>
            <a:r>
              <a:rPr lang="hu-HU" sz="1200" dirty="0" err="1">
                <a:latin typeface="Monospac821 BT" panose="020B0609020202020204" pitchFamily="49" charset="0"/>
              </a:rPr>
              <a:t>button.classList.toggle</a:t>
            </a:r>
            <a:r>
              <a:rPr lang="hu-HU" sz="1200" dirty="0">
                <a:latin typeface="Monospac821 BT" panose="020B0609020202020204" pitchFamily="49" charset="0"/>
              </a:rPr>
              <a:t>("</a:t>
            </a:r>
            <a:r>
              <a:rPr lang="hu-HU" sz="1200" dirty="0" err="1">
                <a:latin typeface="Monospac821 BT" panose="020B0609020202020204" pitchFamily="49" charset="0"/>
              </a:rPr>
              <a:t>active</a:t>
            </a:r>
            <a:r>
              <a:rPr lang="hu-HU" sz="1200" dirty="0">
                <a:latin typeface="Monospac821 BT" panose="020B0609020202020204" pitchFamily="49" charset="0"/>
              </a:rPr>
              <a:t>");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        </a:t>
            </a:r>
            <a:r>
              <a:rPr lang="hu-HU" sz="1200" dirty="0" err="1">
                <a:latin typeface="Monospac821 BT" panose="020B0609020202020204" pitchFamily="49" charset="0"/>
              </a:rPr>
              <a:t>button.classList.toggle</a:t>
            </a:r>
            <a:r>
              <a:rPr lang="hu-HU" sz="1200" dirty="0">
                <a:latin typeface="Monospac821 BT" panose="020B0609020202020204" pitchFamily="49" charset="0"/>
              </a:rPr>
              <a:t>("</a:t>
            </a:r>
            <a:r>
              <a:rPr lang="hu-HU" sz="1200" dirty="0" err="1">
                <a:latin typeface="Monospac821 BT" panose="020B0609020202020204" pitchFamily="49" charset="0"/>
              </a:rPr>
              <a:t>btn-danger</a:t>
            </a:r>
            <a:r>
              <a:rPr lang="hu-HU" sz="1200" dirty="0">
                <a:latin typeface="Monospac821 BT" panose="020B0609020202020204" pitchFamily="49" charset="0"/>
              </a:rPr>
              <a:t>");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        </a:t>
            </a:r>
            <a:r>
              <a:rPr lang="hu-HU" sz="1200" dirty="0" err="1">
                <a:latin typeface="Monospac821 BT" panose="020B0609020202020204" pitchFamily="49" charset="0"/>
              </a:rPr>
              <a:t>button.classList.toggle</a:t>
            </a:r>
            <a:r>
              <a:rPr lang="hu-HU" sz="1200" dirty="0">
                <a:latin typeface="Monospac821 BT" panose="020B0609020202020204" pitchFamily="49" charset="0"/>
              </a:rPr>
              <a:t>("</a:t>
            </a:r>
            <a:r>
              <a:rPr lang="hu-HU" sz="1200" dirty="0" err="1">
                <a:latin typeface="Monospac821 BT" panose="020B0609020202020204" pitchFamily="49" charset="0"/>
              </a:rPr>
              <a:t>btn</a:t>
            </a:r>
            <a:r>
              <a:rPr lang="hu-HU" sz="1200" dirty="0">
                <a:latin typeface="Monospac821 BT" panose="020B0609020202020204" pitchFamily="49" charset="0"/>
              </a:rPr>
              <a:t>-outline-</a:t>
            </a:r>
            <a:r>
              <a:rPr lang="hu-HU" sz="1200" dirty="0" err="1">
                <a:latin typeface="Monospac821 BT" panose="020B0609020202020204" pitchFamily="49" charset="0"/>
              </a:rPr>
              <a:t>danger</a:t>
            </a:r>
            <a:r>
              <a:rPr lang="hu-HU" sz="1200" dirty="0">
                <a:latin typeface="Monospac821 BT" panose="020B0609020202020204" pitchFamily="49" charset="0"/>
              </a:rPr>
              <a:t>");</a:t>
            </a:r>
          </a:p>
          <a:p>
            <a:endParaRPr lang="hu-HU" sz="1200" dirty="0">
              <a:latin typeface="Monospac821 BT" panose="020B0609020202020204" pitchFamily="49" charset="0"/>
            </a:endParaRPr>
          </a:p>
          <a:p>
            <a:r>
              <a:rPr lang="hu-HU" sz="1200" dirty="0">
                <a:latin typeface="Monospac821 BT" panose="020B0609020202020204" pitchFamily="49" charset="0"/>
              </a:rPr>
              <a:t>        </a:t>
            </a:r>
            <a:r>
              <a:rPr lang="hu-HU" sz="1200" dirty="0" err="1">
                <a:latin typeface="Monospac821 BT" panose="020B0609020202020204" pitchFamily="49" charset="0"/>
              </a:rPr>
              <a:t>applyFilters</a:t>
            </a:r>
            <a:r>
              <a:rPr lang="hu-HU" sz="1200" dirty="0">
                <a:latin typeface="Monospac821 BT" panose="020B0609020202020204" pitchFamily="49" charset="0"/>
              </a:rPr>
              <a:t>();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    });</a:t>
            </a:r>
          </a:p>
          <a:p>
            <a:r>
              <a:rPr lang="hu-HU" sz="1200" dirty="0">
                <a:latin typeface="Monospac821 BT" panose="020B0609020202020204" pitchFamily="49" charset="0"/>
              </a:rPr>
              <a:t>});</a:t>
            </a:r>
          </a:p>
          <a:p>
            <a:endParaRPr lang="hu-HU" sz="1200" dirty="0">
              <a:latin typeface="Monospac821 BT" panose="020B0609020202020204" pitchFamily="49" charset="0"/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2291827B-F8E4-4FAE-B689-C7B68A45CDAE}"/>
              </a:ext>
            </a:extLst>
          </p:cNvPr>
          <p:cNvSpPr txBox="1"/>
          <p:nvPr/>
        </p:nvSpPr>
        <p:spPr>
          <a:xfrm>
            <a:off x="353342" y="3043669"/>
            <a:ext cx="428968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Minden gombot külön megvizsgálunk és amivel ,,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click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event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,, történt (magyarul  rányomtunk) az kap egy aktív állapotot (3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class-al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b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hu-HU" sz="1400" dirty="0" err="1">
                <a:latin typeface="Monospac821 BT" panose="020B0609020202020204" pitchFamily="49" charset="0"/>
              </a:rPr>
              <a:t>active</a:t>
            </a:r>
            <a:r>
              <a:rPr lang="hu-HU" sz="1400" dirty="0">
                <a:latin typeface="Monospac821 BT" panose="020B0609020202020204" pitchFamily="49" charset="0"/>
              </a:rPr>
              <a:t>-</a:t>
            </a:r>
            <a:r>
              <a:rPr lang="hu-HU" sz="1400" dirty="0" err="1">
                <a:latin typeface="Monospac821 BT" panose="020B0609020202020204" pitchFamily="49" charset="0"/>
              </a:rPr>
              <a:t>btn</a:t>
            </a:r>
            <a:r>
              <a:rPr lang="hu-HU" sz="1400" dirty="0">
                <a:latin typeface="Monospac821 BT" panose="020B0609020202020204" pitchFamily="49" charset="0"/>
              </a:rPr>
              <a:t>-</a:t>
            </a:r>
            <a:r>
              <a:rPr lang="hu-HU" sz="1400" dirty="0" err="1">
                <a:latin typeface="Monospac821 BT" panose="020B0609020202020204" pitchFamily="49" charset="0"/>
              </a:rPr>
              <a:t>danger</a:t>
            </a:r>
            <a:r>
              <a:rPr lang="hu-HU" sz="1400" dirty="0">
                <a:latin typeface="Monospac821 BT" panose="020B0609020202020204" pitchFamily="49" charset="0"/>
              </a:rPr>
              <a:t>-</a:t>
            </a:r>
            <a:r>
              <a:rPr lang="hu-HU" sz="1400" dirty="0" err="1">
                <a:latin typeface="Monospac821 BT" panose="020B0609020202020204" pitchFamily="49" charset="0"/>
              </a:rPr>
              <a:t>btn</a:t>
            </a:r>
            <a:r>
              <a:rPr lang="hu-HU" sz="1400" dirty="0">
                <a:latin typeface="Monospac821 BT" panose="020B0609020202020204" pitchFamily="49" charset="0"/>
              </a:rPr>
              <a:t>-outline-</a:t>
            </a:r>
            <a:r>
              <a:rPr lang="hu-HU" sz="1400" dirty="0" err="1">
                <a:latin typeface="Monospac821 BT" panose="020B0609020202020204" pitchFamily="49" charset="0"/>
              </a:rPr>
              <a:t>danger</a:t>
            </a:r>
            <a:endParaRPr lang="hu-H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242500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airplane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 helye 3">
            <a:extLst>
              <a:ext uri="{FF2B5EF4-FFF2-40B4-BE49-F238E27FC236}">
                <a16:creationId xmlns:a16="http://schemas.microsoft.com/office/drawing/2014/main" id="{A380262F-8C9A-4ACF-9766-4BB046BFD3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5156" y="1928349"/>
            <a:ext cx="2897411" cy="669708"/>
          </a:xfrm>
        </p:spPr>
        <p:txBody>
          <a:bodyPr>
            <a:noAutofit/>
          </a:bodyPr>
          <a:lstStyle/>
          <a:p>
            <a:r>
              <a:rPr lang="hu-HU" sz="3200" b="1" dirty="0"/>
              <a:t>Nyomógombok</a:t>
            </a:r>
          </a:p>
        </p:txBody>
      </p:sp>
      <p:sp>
        <p:nvSpPr>
          <p:cNvPr id="6" name="Cím 5">
            <a:extLst>
              <a:ext uri="{FF2B5EF4-FFF2-40B4-BE49-F238E27FC236}">
                <a16:creationId xmlns:a16="http://schemas.microsoft.com/office/drawing/2014/main" id="{2F31512E-B551-4349-852F-DD3A1FF07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05" y="279714"/>
            <a:ext cx="3949307" cy="1382697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hu-HU" sz="4000" u="sng" dirty="0"/>
              <a:t>Demonok.html</a:t>
            </a:r>
            <a:br>
              <a:rPr lang="hu-HU" dirty="0"/>
            </a:br>
            <a:r>
              <a:rPr lang="hu-HU" sz="2400" dirty="0"/>
              <a:t>Készítette:</a:t>
            </a:r>
            <a:br>
              <a:rPr lang="hu-HU" sz="2400" dirty="0"/>
            </a:br>
            <a:r>
              <a:rPr lang="hu-HU" sz="2400" dirty="0"/>
              <a:t>Konyári Botond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626E6684-46CA-4F1B-8DB6-D34D4F4FE28B}"/>
              </a:ext>
            </a:extLst>
          </p:cNvPr>
          <p:cNvSpPr txBox="1"/>
          <p:nvPr/>
        </p:nvSpPr>
        <p:spPr>
          <a:xfrm>
            <a:off x="419698" y="2373961"/>
            <a:ext cx="3368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Script (2)</a:t>
            </a: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185943A9-DFFA-48AE-96FA-7262C2D863EE}"/>
              </a:ext>
            </a:extLst>
          </p:cNvPr>
          <p:cNvSpPr txBox="1"/>
          <p:nvPr/>
        </p:nvSpPr>
        <p:spPr>
          <a:xfrm>
            <a:off x="4936898" y="192117"/>
            <a:ext cx="6027937" cy="53399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100" dirty="0" err="1">
                <a:latin typeface="Monospac821 BT" panose="020B0609020202020204" pitchFamily="49" charset="0"/>
              </a:rPr>
              <a:t>function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applyFilters</a:t>
            </a:r>
            <a:r>
              <a:rPr lang="hu-HU" sz="1100" dirty="0">
                <a:latin typeface="Monospac821 BT" panose="020B0609020202020204" pitchFamily="49" charset="0"/>
              </a:rPr>
              <a:t>() {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const </a:t>
            </a:r>
            <a:r>
              <a:rPr lang="hu-HU" sz="1100" dirty="0" err="1">
                <a:latin typeface="Monospac821 BT" panose="020B0609020202020204" pitchFamily="49" charset="0"/>
              </a:rPr>
              <a:t>activeFilters</a:t>
            </a:r>
            <a:r>
              <a:rPr lang="hu-HU" sz="1100" dirty="0">
                <a:latin typeface="Monospac821 BT" panose="020B0609020202020204" pitchFamily="49" charset="0"/>
              </a:rPr>
              <a:t> = </a:t>
            </a:r>
            <a:r>
              <a:rPr lang="hu-HU" sz="1100" dirty="0" err="1">
                <a:latin typeface="Monospac821 BT" panose="020B0609020202020204" pitchFamily="49" charset="0"/>
              </a:rPr>
              <a:t>Array.from</a:t>
            </a:r>
            <a:r>
              <a:rPr lang="hu-HU" sz="1100" dirty="0">
                <a:latin typeface="Monospac821 BT" panose="020B0609020202020204" pitchFamily="49" charset="0"/>
              </a:rPr>
              <a:t>(</a:t>
            </a:r>
            <a:r>
              <a:rPr lang="hu-HU" sz="1100" dirty="0" err="1">
                <a:latin typeface="Monospac821 BT" panose="020B0609020202020204" pitchFamily="49" charset="0"/>
              </a:rPr>
              <a:t>document.querySelectorAll</a:t>
            </a:r>
            <a:r>
              <a:rPr lang="hu-HU" sz="1100" dirty="0">
                <a:latin typeface="Monospac821 BT" panose="020B0609020202020204" pitchFamily="49" charset="0"/>
              </a:rPr>
              <a:t>(".filter-</a:t>
            </a:r>
            <a:r>
              <a:rPr lang="hu-HU" sz="1100" dirty="0" err="1">
                <a:latin typeface="Monospac821 BT" panose="020B0609020202020204" pitchFamily="49" charset="0"/>
              </a:rPr>
              <a:t>btn.active</a:t>
            </a:r>
            <a:r>
              <a:rPr lang="hu-HU" sz="1100" dirty="0">
                <a:latin typeface="Monospac821 BT" panose="020B0609020202020204" pitchFamily="49" charset="0"/>
              </a:rPr>
              <a:t>"))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.map(</a:t>
            </a:r>
            <a:r>
              <a:rPr lang="hu-HU" sz="1100" dirty="0" err="1">
                <a:latin typeface="Monospac821 BT" panose="020B0609020202020204" pitchFamily="49" charset="0"/>
              </a:rPr>
              <a:t>btn</a:t>
            </a:r>
            <a:r>
              <a:rPr lang="hu-HU" sz="1100" dirty="0">
                <a:latin typeface="Monospac821 BT" panose="020B0609020202020204" pitchFamily="49" charset="0"/>
              </a:rPr>
              <a:t> =&gt; </a:t>
            </a:r>
            <a:r>
              <a:rPr lang="hu-HU" sz="1100" dirty="0" err="1">
                <a:latin typeface="Monospac821 BT" panose="020B0609020202020204" pitchFamily="49" charset="0"/>
              </a:rPr>
              <a:t>btn.getAttribute</a:t>
            </a:r>
            <a:r>
              <a:rPr lang="hu-HU" sz="1100" dirty="0">
                <a:latin typeface="Monospac821 BT" panose="020B0609020202020204" pitchFamily="49" charset="0"/>
              </a:rPr>
              <a:t>("</a:t>
            </a:r>
            <a:r>
              <a:rPr lang="hu-HU" sz="1100" dirty="0" err="1">
                <a:latin typeface="Monospac821 BT" panose="020B0609020202020204" pitchFamily="49" charset="0"/>
              </a:rPr>
              <a:t>data</a:t>
            </a:r>
            <a:r>
              <a:rPr lang="hu-HU" sz="1100" dirty="0">
                <a:latin typeface="Monospac821 BT" panose="020B0609020202020204" pitchFamily="49" charset="0"/>
              </a:rPr>
              <a:t>-filter"));</a:t>
            </a:r>
          </a:p>
          <a:p>
            <a:endParaRPr lang="hu-HU" sz="1100" dirty="0">
              <a:latin typeface="Monospac821 BT" panose="020B0609020202020204" pitchFamily="49" charset="0"/>
            </a:endParaRPr>
          </a:p>
          <a:p>
            <a:r>
              <a:rPr lang="hu-HU" sz="1100" dirty="0">
                <a:latin typeface="Monospac821 BT" panose="020B0609020202020204" pitchFamily="49" charset="0"/>
              </a:rPr>
              <a:t>    </a:t>
            </a:r>
            <a:r>
              <a:rPr lang="hu-HU" sz="1100" dirty="0" err="1">
                <a:latin typeface="Monospac821 BT" panose="020B0609020202020204" pitchFamily="49" charset="0"/>
              </a:rPr>
              <a:t>cards.forEach</a:t>
            </a:r>
            <a:r>
              <a:rPr lang="hu-HU" sz="1100" dirty="0">
                <a:latin typeface="Monospac821 BT" panose="020B0609020202020204" pitchFamily="49" charset="0"/>
              </a:rPr>
              <a:t>(</a:t>
            </a:r>
            <a:r>
              <a:rPr lang="hu-HU" sz="1100" dirty="0" err="1">
                <a:latin typeface="Monospac821 BT" panose="020B0609020202020204" pitchFamily="49" charset="0"/>
              </a:rPr>
              <a:t>card</a:t>
            </a:r>
            <a:r>
              <a:rPr lang="hu-HU" sz="1100" dirty="0">
                <a:latin typeface="Monospac821 BT" panose="020B0609020202020204" pitchFamily="49" charset="0"/>
              </a:rPr>
              <a:t> =&gt; {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const </a:t>
            </a:r>
            <a:r>
              <a:rPr lang="hu-HU" sz="1100" dirty="0" err="1">
                <a:latin typeface="Monospac821 BT" panose="020B0609020202020204" pitchFamily="49" charset="0"/>
              </a:rPr>
              <a:t>evidences</a:t>
            </a:r>
            <a:r>
              <a:rPr lang="hu-HU" sz="1100" dirty="0">
                <a:latin typeface="Monospac821 BT" panose="020B0609020202020204" pitchFamily="49" charset="0"/>
              </a:rPr>
              <a:t> = </a:t>
            </a:r>
            <a:r>
              <a:rPr lang="hu-HU" sz="1100" dirty="0" err="1">
                <a:latin typeface="Monospac821 BT" panose="020B0609020202020204" pitchFamily="49" charset="0"/>
              </a:rPr>
              <a:t>card.getAttribute</a:t>
            </a:r>
            <a:r>
              <a:rPr lang="hu-HU" sz="1100" dirty="0">
                <a:latin typeface="Monospac821 BT" panose="020B0609020202020204" pitchFamily="49" charset="0"/>
              </a:rPr>
              <a:t>("</a:t>
            </a:r>
            <a:r>
              <a:rPr lang="hu-HU" sz="1100" dirty="0" err="1">
                <a:latin typeface="Monospac821 BT" panose="020B0609020202020204" pitchFamily="49" charset="0"/>
              </a:rPr>
              <a:t>data-evidence</a:t>
            </a:r>
            <a:r>
              <a:rPr lang="hu-HU" sz="1100" dirty="0">
                <a:latin typeface="Monospac821 BT" panose="020B0609020202020204" pitchFamily="49" charset="0"/>
              </a:rPr>
              <a:t>");</a:t>
            </a:r>
          </a:p>
          <a:p>
            <a:endParaRPr lang="hu-HU" sz="1100" dirty="0">
              <a:latin typeface="Monospac821 BT" panose="020B0609020202020204" pitchFamily="49" charset="0"/>
            </a:endParaRPr>
          </a:p>
          <a:p>
            <a:r>
              <a:rPr lang="hu-HU" sz="1100" dirty="0">
                <a:latin typeface="Monospac821 BT" panose="020B0609020202020204" pitchFamily="49" charset="0"/>
              </a:rPr>
              <a:t>        const </a:t>
            </a:r>
            <a:r>
              <a:rPr lang="hu-HU" sz="1100" dirty="0" err="1">
                <a:latin typeface="Monospac821 BT" panose="020B0609020202020204" pitchFamily="49" charset="0"/>
              </a:rPr>
              <a:t>matches</a:t>
            </a:r>
            <a:r>
              <a:rPr lang="hu-HU" sz="1100" dirty="0">
                <a:latin typeface="Monospac821 BT" panose="020B0609020202020204" pitchFamily="49" charset="0"/>
              </a:rPr>
              <a:t> = </a:t>
            </a:r>
            <a:r>
              <a:rPr lang="hu-HU" sz="1100" dirty="0" err="1">
                <a:latin typeface="Monospac821 BT" panose="020B0609020202020204" pitchFamily="49" charset="0"/>
              </a:rPr>
              <a:t>activeFilters.every</a:t>
            </a:r>
            <a:r>
              <a:rPr lang="hu-HU" sz="1100" dirty="0">
                <a:latin typeface="Monospac821 BT" panose="020B0609020202020204" pitchFamily="49" charset="0"/>
              </a:rPr>
              <a:t>(filter =&gt; 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</a:t>
            </a:r>
            <a:r>
              <a:rPr lang="hu-HU" sz="1100" dirty="0" err="1">
                <a:latin typeface="Monospac821 BT" panose="020B0609020202020204" pitchFamily="49" charset="0"/>
              </a:rPr>
              <a:t>evidences.includes</a:t>
            </a:r>
            <a:r>
              <a:rPr lang="hu-HU" sz="1100" dirty="0">
                <a:latin typeface="Monospac821 BT" panose="020B0609020202020204" pitchFamily="49" charset="0"/>
              </a:rPr>
              <a:t>(filter)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);</a:t>
            </a:r>
          </a:p>
          <a:p>
            <a:endParaRPr lang="hu-HU" sz="1100" dirty="0">
              <a:latin typeface="Monospac821 BT" panose="020B0609020202020204" pitchFamily="49" charset="0"/>
            </a:endParaRPr>
          </a:p>
          <a:p>
            <a:r>
              <a:rPr lang="hu-HU" sz="1100" dirty="0">
                <a:latin typeface="Monospac821 BT" panose="020B0609020202020204" pitchFamily="49" charset="0"/>
              </a:rPr>
              <a:t>        </a:t>
            </a:r>
            <a:r>
              <a:rPr lang="hu-HU" sz="1100" dirty="0" err="1">
                <a:latin typeface="Monospac821 BT" panose="020B0609020202020204" pitchFamily="49" charset="0"/>
              </a:rPr>
              <a:t>if</a:t>
            </a:r>
            <a:r>
              <a:rPr lang="hu-HU" sz="1100" dirty="0">
                <a:latin typeface="Monospac821 BT" panose="020B0609020202020204" pitchFamily="49" charset="0"/>
              </a:rPr>
              <a:t> (</a:t>
            </a:r>
            <a:r>
              <a:rPr lang="hu-HU" sz="1100" dirty="0" err="1">
                <a:latin typeface="Monospac821 BT" panose="020B0609020202020204" pitchFamily="49" charset="0"/>
              </a:rPr>
              <a:t>activeFilters.length</a:t>
            </a:r>
            <a:r>
              <a:rPr lang="hu-HU" sz="1100" dirty="0">
                <a:latin typeface="Monospac821 BT" panose="020B0609020202020204" pitchFamily="49" charset="0"/>
              </a:rPr>
              <a:t> === 0 || </a:t>
            </a:r>
            <a:r>
              <a:rPr lang="hu-HU" sz="1100" dirty="0" err="1">
                <a:latin typeface="Monospac821 BT" panose="020B0609020202020204" pitchFamily="49" charset="0"/>
              </a:rPr>
              <a:t>matches</a:t>
            </a:r>
            <a:r>
              <a:rPr lang="hu-HU" sz="1100" dirty="0">
                <a:latin typeface="Monospac821 BT" panose="020B0609020202020204" pitchFamily="49" charset="0"/>
              </a:rPr>
              <a:t>) {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</a:t>
            </a:r>
            <a:r>
              <a:rPr lang="hu-HU" sz="1100" dirty="0" err="1">
                <a:latin typeface="Monospac821 BT" panose="020B0609020202020204" pitchFamily="49" charset="0"/>
              </a:rPr>
              <a:t>card.style.display</a:t>
            </a:r>
            <a:r>
              <a:rPr lang="hu-HU" sz="1100" dirty="0">
                <a:latin typeface="Monospac821 BT" panose="020B0609020202020204" pitchFamily="49" charset="0"/>
              </a:rPr>
              <a:t> = "</a:t>
            </a:r>
            <a:r>
              <a:rPr lang="hu-HU" sz="1100" dirty="0" err="1">
                <a:latin typeface="Monospac821 BT" panose="020B0609020202020204" pitchFamily="49" charset="0"/>
              </a:rPr>
              <a:t>block</a:t>
            </a:r>
            <a:r>
              <a:rPr lang="hu-HU" sz="1100" dirty="0">
                <a:latin typeface="Monospac821 BT" panose="020B0609020202020204" pitchFamily="49" charset="0"/>
              </a:rPr>
              <a:t>";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} </a:t>
            </a:r>
            <a:r>
              <a:rPr lang="hu-HU" sz="1100" dirty="0" err="1">
                <a:latin typeface="Monospac821 BT" panose="020B0609020202020204" pitchFamily="49" charset="0"/>
              </a:rPr>
              <a:t>else</a:t>
            </a:r>
            <a:r>
              <a:rPr lang="hu-HU" sz="1100" dirty="0">
                <a:latin typeface="Monospac821 BT" panose="020B0609020202020204" pitchFamily="49" charset="0"/>
              </a:rPr>
              <a:t> {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</a:t>
            </a:r>
            <a:r>
              <a:rPr lang="hu-HU" sz="1100" dirty="0" err="1">
                <a:latin typeface="Monospac821 BT" panose="020B0609020202020204" pitchFamily="49" charset="0"/>
              </a:rPr>
              <a:t>card.style.display</a:t>
            </a:r>
            <a:r>
              <a:rPr lang="hu-HU" sz="1100" dirty="0">
                <a:latin typeface="Monospac821 BT" panose="020B0609020202020204" pitchFamily="49" charset="0"/>
              </a:rPr>
              <a:t> = "</a:t>
            </a:r>
            <a:r>
              <a:rPr lang="hu-HU" sz="1100" dirty="0" err="1">
                <a:latin typeface="Monospac821 BT" panose="020B0609020202020204" pitchFamily="49" charset="0"/>
              </a:rPr>
              <a:t>none</a:t>
            </a:r>
            <a:r>
              <a:rPr lang="hu-HU" sz="1100" dirty="0">
                <a:latin typeface="Monospac821 BT" panose="020B0609020202020204" pitchFamily="49" charset="0"/>
              </a:rPr>
              <a:t>";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}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});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}</a:t>
            </a:r>
          </a:p>
          <a:p>
            <a:endParaRPr lang="hu-HU" sz="1100" dirty="0">
              <a:latin typeface="Monospac821 BT" panose="020B0609020202020204" pitchFamily="49" charset="0"/>
            </a:endParaRPr>
          </a:p>
          <a:p>
            <a:r>
              <a:rPr lang="hu-HU" sz="1100" dirty="0" err="1">
                <a:latin typeface="Monospac821 BT" panose="020B0609020202020204" pitchFamily="49" charset="0"/>
              </a:rPr>
              <a:t>resetBtn.addEventListener</a:t>
            </a:r>
            <a:r>
              <a:rPr lang="hu-HU" sz="1100" dirty="0">
                <a:latin typeface="Monospac821 BT" panose="020B0609020202020204" pitchFamily="49" charset="0"/>
              </a:rPr>
              <a:t>("</a:t>
            </a:r>
            <a:r>
              <a:rPr lang="hu-HU" sz="1100" dirty="0" err="1">
                <a:latin typeface="Monospac821 BT" panose="020B0609020202020204" pitchFamily="49" charset="0"/>
              </a:rPr>
              <a:t>click</a:t>
            </a:r>
            <a:r>
              <a:rPr lang="hu-HU" sz="1100" dirty="0">
                <a:latin typeface="Monospac821 BT" panose="020B0609020202020204" pitchFamily="49" charset="0"/>
              </a:rPr>
              <a:t>", () =&gt; {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</a:t>
            </a:r>
            <a:r>
              <a:rPr lang="hu-HU" sz="1100" dirty="0" err="1">
                <a:latin typeface="Monospac821 BT" panose="020B0609020202020204" pitchFamily="49" charset="0"/>
              </a:rPr>
              <a:t>buttons.forEach</a:t>
            </a:r>
            <a:r>
              <a:rPr lang="hu-HU" sz="1100" dirty="0">
                <a:latin typeface="Monospac821 BT" panose="020B0609020202020204" pitchFamily="49" charset="0"/>
              </a:rPr>
              <a:t>(</a:t>
            </a:r>
            <a:r>
              <a:rPr lang="hu-HU" sz="1100" dirty="0" err="1">
                <a:latin typeface="Monospac821 BT" panose="020B0609020202020204" pitchFamily="49" charset="0"/>
              </a:rPr>
              <a:t>btn</a:t>
            </a:r>
            <a:r>
              <a:rPr lang="hu-HU" sz="1100" dirty="0">
                <a:latin typeface="Monospac821 BT" panose="020B0609020202020204" pitchFamily="49" charset="0"/>
              </a:rPr>
              <a:t> =&gt; {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</a:t>
            </a:r>
            <a:r>
              <a:rPr lang="hu-HU" sz="1100" dirty="0" err="1">
                <a:latin typeface="Monospac821 BT" panose="020B0609020202020204" pitchFamily="49" charset="0"/>
              </a:rPr>
              <a:t>btn.classList.remove</a:t>
            </a:r>
            <a:r>
              <a:rPr lang="hu-HU" sz="1100" dirty="0">
                <a:latin typeface="Monospac821 BT" panose="020B0609020202020204" pitchFamily="49" charset="0"/>
              </a:rPr>
              <a:t>("</a:t>
            </a:r>
            <a:r>
              <a:rPr lang="hu-HU" sz="1100" dirty="0" err="1">
                <a:latin typeface="Monospac821 BT" panose="020B0609020202020204" pitchFamily="49" charset="0"/>
              </a:rPr>
              <a:t>active</a:t>
            </a:r>
            <a:r>
              <a:rPr lang="hu-HU" sz="1100" dirty="0">
                <a:latin typeface="Monospac821 BT" panose="020B0609020202020204" pitchFamily="49" charset="0"/>
              </a:rPr>
              <a:t>", "</a:t>
            </a:r>
            <a:r>
              <a:rPr lang="hu-HU" sz="1100" dirty="0" err="1">
                <a:latin typeface="Monospac821 BT" panose="020B0609020202020204" pitchFamily="49" charset="0"/>
              </a:rPr>
              <a:t>btn-danger</a:t>
            </a:r>
            <a:r>
              <a:rPr lang="hu-HU" sz="1100" dirty="0">
                <a:latin typeface="Monospac821 BT" panose="020B0609020202020204" pitchFamily="49" charset="0"/>
              </a:rPr>
              <a:t>");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</a:t>
            </a:r>
            <a:r>
              <a:rPr lang="hu-HU" sz="1100" dirty="0" err="1">
                <a:latin typeface="Monospac821 BT" panose="020B0609020202020204" pitchFamily="49" charset="0"/>
              </a:rPr>
              <a:t>btn.classList.add</a:t>
            </a:r>
            <a:r>
              <a:rPr lang="hu-HU" sz="1100" dirty="0">
                <a:latin typeface="Monospac821 BT" panose="020B0609020202020204" pitchFamily="49" charset="0"/>
              </a:rPr>
              <a:t>("</a:t>
            </a:r>
            <a:r>
              <a:rPr lang="hu-HU" sz="1100" dirty="0" err="1">
                <a:latin typeface="Monospac821 BT" panose="020B0609020202020204" pitchFamily="49" charset="0"/>
              </a:rPr>
              <a:t>btn</a:t>
            </a:r>
            <a:r>
              <a:rPr lang="hu-HU" sz="1100" dirty="0">
                <a:latin typeface="Monospac821 BT" panose="020B0609020202020204" pitchFamily="49" charset="0"/>
              </a:rPr>
              <a:t>-outline-</a:t>
            </a:r>
            <a:r>
              <a:rPr lang="hu-HU" sz="1100" dirty="0" err="1">
                <a:latin typeface="Monospac821 BT" panose="020B0609020202020204" pitchFamily="49" charset="0"/>
              </a:rPr>
              <a:t>danger</a:t>
            </a:r>
            <a:r>
              <a:rPr lang="hu-HU" sz="1100" dirty="0">
                <a:latin typeface="Monospac821 BT" panose="020B0609020202020204" pitchFamily="49" charset="0"/>
              </a:rPr>
              <a:t>");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});</a:t>
            </a:r>
          </a:p>
          <a:p>
            <a:endParaRPr lang="hu-HU" sz="1100" dirty="0">
              <a:latin typeface="Monospac821 BT" panose="020B0609020202020204" pitchFamily="49" charset="0"/>
            </a:endParaRPr>
          </a:p>
          <a:p>
            <a:r>
              <a:rPr lang="hu-HU" sz="1100" dirty="0">
                <a:latin typeface="Monospac821 BT" panose="020B0609020202020204" pitchFamily="49" charset="0"/>
              </a:rPr>
              <a:t>    </a:t>
            </a:r>
            <a:r>
              <a:rPr lang="hu-HU" sz="1100" dirty="0" err="1">
                <a:latin typeface="Monospac821 BT" panose="020B0609020202020204" pitchFamily="49" charset="0"/>
              </a:rPr>
              <a:t>cards.forEach</a:t>
            </a:r>
            <a:r>
              <a:rPr lang="hu-HU" sz="1100" dirty="0">
                <a:latin typeface="Monospac821 BT" panose="020B0609020202020204" pitchFamily="49" charset="0"/>
              </a:rPr>
              <a:t>(</a:t>
            </a:r>
            <a:r>
              <a:rPr lang="hu-HU" sz="1100" dirty="0" err="1">
                <a:latin typeface="Monospac821 BT" panose="020B0609020202020204" pitchFamily="49" charset="0"/>
              </a:rPr>
              <a:t>card</a:t>
            </a:r>
            <a:r>
              <a:rPr lang="hu-HU" sz="1100" dirty="0">
                <a:latin typeface="Monospac821 BT" panose="020B0609020202020204" pitchFamily="49" charset="0"/>
              </a:rPr>
              <a:t> =&gt; {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</a:t>
            </a:r>
            <a:r>
              <a:rPr lang="hu-HU" sz="1100" dirty="0" err="1">
                <a:latin typeface="Monospac821 BT" panose="020B0609020202020204" pitchFamily="49" charset="0"/>
              </a:rPr>
              <a:t>card.style.display</a:t>
            </a:r>
            <a:r>
              <a:rPr lang="hu-HU" sz="1100" dirty="0">
                <a:latin typeface="Monospac821 BT" panose="020B0609020202020204" pitchFamily="49" charset="0"/>
              </a:rPr>
              <a:t> = "</a:t>
            </a:r>
            <a:r>
              <a:rPr lang="hu-HU" sz="1100" dirty="0" err="1">
                <a:latin typeface="Monospac821 BT" panose="020B0609020202020204" pitchFamily="49" charset="0"/>
              </a:rPr>
              <a:t>block</a:t>
            </a:r>
            <a:r>
              <a:rPr lang="hu-HU" sz="1100" dirty="0">
                <a:latin typeface="Monospac821 BT" panose="020B0609020202020204" pitchFamily="49" charset="0"/>
              </a:rPr>
              <a:t>";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});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});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&lt;/script&gt;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3B4478F0-6AF3-45B3-9E0E-BC0388BB4B10}"/>
              </a:ext>
            </a:extLst>
          </p:cNvPr>
          <p:cNvSpPr txBox="1"/>
          <p:nvPr/>
        </p:nvSpPr>
        <p:spPr>
          <a:xfrm>
            <a:off x="825623" y="2902998"/>
            <a:ext cx="32048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hu-H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96BF47A-476B-4F2D-82EE-DD35F9242413}"/>
              </a:ext>
            </a:extLst>
          </p:cNvPr>
          <p:cNvSpPr txBox="1"/>
          <p:nvPr/>
        </p:nvSpPr>
        <p:spPr>
          <a:xfrm>
            <a:off x="592412" y="2862078"/>
            <a:ext cx="35777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Minden filter-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és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active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class-al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rendelkező gomb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-filter tulajdonságát kiveszi és megnézi az egész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dokumentunkban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milyen másik elemek rendelkeznek ugyanezzel.</a:t>
            </a:r>
          </a:p>
          <a:p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Ezeket a gombokat megjeleníti, míg a többit elrejti</a:t>
            </a:r>
          </a:p>
        </p:txBody>
      </p:sp>
    </p:spTree>
    <p:extLst>
      <p:ext uri="{BB962C8B-B14F-4D97-AF65-F5344CB8AC3E}">
        <p14:creationId xmlns:p14="http://schemas.microsoft.com/office/powerpoint/2010/main" val="37947899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400">
        <p14:rippl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 helye 3">
            <a:extLst>
              <a:ext uri="{FF2B5EF4-FFF2-40B4-BE49-F238E27FC236}">
                <a16:creationId xmlns:a16="http://schemas.microsoft.com/office/drawing/2014/main" id="{A380262F-8C9A-4ACF-9766-4BB046BFD3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5156" y="1928349"/>
            <a:ext cx="2897411" cy="669708"/>
          </a:xfrm>
        </p:spPr>
        <p:txBody>
          <a:bodyPr>
            <a:noAutofit/>
          </a:bodyPr>
          <a:lstStyle/>
          <a:p>
            <a:r>
              <a:rPr lang="hu-HU" sz="3200" b="1" dirty="0"/>
              <a:t>Nyomógombok</a:t>
            </a:r>
          </a:p>
        </p:txBody>
      </p:sp>
      <p:sp>
        <p:nvSpPr>
          <p:cNvPr id="6" name="Cím 5">
            <a:extLst>
              <a:ext uri="{FF2B5EF4-FFF2-40B4-BE49-F238E27FC236}">
                <a16:creationId xmlns:a16="http://schemas.microsoft.com/office/drawing/2014/main" id="{2F31512E-B551-4349-852F-DD3A1FF07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05" y="279714"/>
            <a:ext cx="3949307" cy="1382697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hu-HU" sz="4000" u="sng" dirty="0"/>
              <a:t>Demonok.html</a:t>
            </a:r>
            <a:br>
              <a:rPr lang="hu-HU" dirty="0"/>
            </a:br>
            <a:r>
              <a:rPr lang="hu-HU" sz="2400" dirty="0"/>
              <a:t>Készítette:</a:t>
            </a:r>
            <a:br>
              <a:rPr lang="hu-HU" sz="2400" dirty="0"/>
            </a:br>
            <a:r>
              <a:rPr lang="hu-HU" sz="2400" dirty="0"/>
              <a:t>Konyári Botond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626E6684-46CA-4F1B-8DB6-D34D4F4FE28B}"/>
              </a:ext>
            </a:extLst>
          </p:cNvPr>
          <p:cNvSpPr txBox="1"/>
          <p:nvPr/>
        </p:nvSpPr>
        <p:spPr>
          <a:xfrm>
            <a:off x="419698" y="2373961"/>
            <a:ext cx="3368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Kártyák</a:t>
            </a: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185943A9-DFFA-48AE-96FA-7262C2D863EE}"/>
              </a:ext>
            </a:extLst>
          </p:cNvPr>
          <p:cNvSpPr txBox="1"/>
          <p:nvPr/>
        </p:nvSpPr>
        <p:spPr>
          <a:xfrm>
            <a:off x="4936898" y="192117"/>
            <a:ext cx="6429479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hu-HU" sz="1100" dirty="0">
              <a:latin typeface="Monospac821 BT" panose="020B0609020202020204" pitchFamily="49" charset="0"/>
            </a:endParaRPr>
          </a:p>
          <a:p>
            <a:r>
              <a:rPr lang="hu-HU" sz="1100" dirty="0">
                <a:latin typeface="Monospac821 BT" panose="020B0609020202020204" pitchFamily="49" charset="0"/>
              </a:rPr>
              <a:t>&lt;!-- </a:t>
            </a:r>
            <a:r>
              <a:rPr lang="hu-HU" sz="1100" dirty="0" err="1">
                <a:latin typeface="Monospac821 BT" panose="020B0609020202020204" pitchFamily="49" charset="0"/>
              </a:rPr>
              <a:t>Dayan</a:t>
            </a:r>
            <a:r>
              <a:rPr lang="hu-HU" sz="1100" dirty="0">
                <a:latin typeface="Monospac821 BT" panose="020B0609020202020204" pitchFamily="49" charset="0"/>
              </a:rPr>
              <a:t>  --&gt;</a:t>
            </a:r>
          </a:p>
          <a:p>
            <a:endParaRPr lang="hu-HU" sz="1100" dirty="0">
              <a:latin typeface="Monospac821 BT" panose="020B0609020202020204" pitchFamily="49" charset="0"/>
            </a:endParaRPr>
          </a:p>
          <a:p>
            <a:r>
              <a:rPr lang="hu-HU" sz="1100" dirty="0">
                <a:latin typeface="Monospac821 BT" panose="020B0609020202020204" pitchFamily="49" charset="0"/>
              </a:rPr>
              <a:t>        &lt;div </a:t>
            </a:r>
            <a:r>
              <a:rPr lang="hu-HU" sz="1100" dirty="0" err="1">
                <a:latin typeface="Monospac821 BT" panose="020B0609020202020204" pitchFamily="49" charset="0"/>
              </a:rPr>
              <a:t>class</a:t>
            </a:r>
            <a:r>
              <a:rPr lang="hu-HU" sz="1100" dirty="0">
                <a:latin typeface="Monospac821 BT" panose="020B0609020202020204" pitchFamily="49" charset="0"/>
              </a:rPr>
              <a:t>="col-12 col-md-6 col-lg-3 mb-5 </a:t>
            </a:r>
            <a:r>
              <a:rPr lang="hu-HU" sz="1100" dirty="0" err="1">
                <a:latin typeface="Monospac821 BT" panose="020B0609020202020204" pitchFamily="49" charset="0"/>
              </a:rPr>
              <a:t>ghost-card</a:t>
            </a:r>
            <a:r>
              <a:rPr lang="hu-HU" sz="1100" dirty="0">
                <a:latin typeface="Monospac821 BT" panose="020B0609020202020204" pitchFamily="49" charset="0"/>
              </a:rPr>
              <a:t>" </a:t>
            </a:r>
            <a:r>
              <a:rPr lang="hu-HU" sz="1100" dirty="0" err="1">
                <a:latin typeface="Monospac821 BT" panose="020B0609020202020204" pitchFamily="49" charset="0"/>
              </a:rPr>
              <a:t>data-evidence</a:t>
            </a:r>
            <a:r>
              <a:rPr lang="hu-HU" sz="1100" dirty="0">
                <a:latin typeface="Monospac821 BT" panose="020B0609020202020204" pitchFamily="49" charset="0"/>
              </a:rPr>
              <a:t>="</a:t>
            </a:r>
            <a:r>
              <a:rPr lang="hu-HU" sz="1100" dirty="0" err="1">
                <a:latin typeface="Monospac821 BT" panose="020B0609020202020204" pitchFamily="49" charset="0"/>
              </a:rPr>
              <a:t>emf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orb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spirit_box</a:t>
            </a:r>
            <a:r>
              <a:rPr lang="hu-HU" sz="1100" dirty="0">
                <a:latin typeface="Monospac821 BT" panose="020B0609020202020204" pitchFamily="49" charset="0"/>
              </a:rPr>
              <a:t>"&gt;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&lt;div </a:t>
            </a:r>
            <a:r>
              <a:rPr lang="hu-HU" sz="1100" dirty="0" err="1">
                <a:latin typeface="Monospac821 BT" panose="020B0609020202020204" pitchFamily="49" charset="0"/>
              </a:rPr>
              <a:t>class</a:t>
            </a:r>
            <a:r>
              <a:rPr lang="hu-HU" sz="1100" dirty="0">
                <a:latin typeface="Monospac821 BT" panose="020B0609020202020204" pitchFamily="49" charset="0"/>
              </a:rPr>
              <a:t>="</a:t>
            </a:r>
            <a:r>
              <a:rPr lang="hu-HU" sz="1100" dirty="0" err="1">
                <a:latin typeface="Monospac821 BT" panose="020B0609020202020204" pitchFamily="49" charset="0"/>
              </a:rPr>
              <a:t>card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bg-dark</a:t>
            </a:r>
            <a:r>
              <a:rPr lang="hu-HU" sz="1100" dirty="0">
                <a:latin typeface="Monospac821 BT" panose="020B0609020202020204" pitchFamily="49" charset="0"/>
              </a:rPr>
              <a:t> text-</a:t>
            </a:r>
            <a:r>
              <a:rPr lang="hu-HU" sz="1100" dirty="0" err="1">
                <a:latin typeface="Monospac821 BT" panose="020B0609020202020204" pitchFamily="49" charset="0"/>
              </a:rPr>
              <a:t>light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border-danger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shadow</a:t>
            </a:r>
            <a:r>
              <a:rPr lang="hu-HU" sz="1100" dirty="0">
                <a:latin typeface="Monospac821 BT" panose="020B0609020202020204" pitchFamily="49" charset="0"/>
              </a:rPr>
              <a:t>-lg rounded-4 h-100"&gt;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&lt;h4 </a:t>
            </a:r>
            <a:r>
              <a:rPr lang="hu-HU" sz="1100" dirty="0" err="1">
                <a:latin typeface="Monospac821 BT" panose="020B0609020202020204" pitchFamily="49" charset="0"/>
              </a:rPr>
              <a:t>class</a:t>
            </a:r>
            <a:r>
              <a:rPr lang="hu-HU" sz="1100" dirty="0">
                <a:latin typeface="Monospac821 BT" panose="020B0609020202020204" pitchFamily="49" charset="0"/>
              </a:rPr>
              <a:t>="</a:t>
            </a:r>
            <a:r>
              <a:rPr lang="hu-HU" sz="1100" dirty="0" err="1">
                <a:latin typeface="Monospac821 BT" panose="020B0609020202020204" pitchFamily="49" charset="0"/>
              </a:rPr>
              <a:t>card-header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bg-danger</a:t>
            </a:r>
            <a:r>
              <a:rPr lang="hu-HU" sz="1100" dirty="0">
                <a:latin typeface="Monospac821 BT" panose="020B0609020202020204" pitchFamily="49" charset="0"/>
              </a:rPr>
              <a:t> text-</a:t>
            </a:r>
            <a:r>
              <a:rPr lang="hu-HU" sz="1100" dirty="0" err="1">
                <a:latin typeface="Monospac821 BT" panose="020B0609020202020204" pitchFamily="49" charset="0"/>
              </a:rPr>
              <a:t>white</a:t>
            </a:r>
            <a:r>
              <a:rPr lang="hu-HU" sz="1100" dirty="0">
                <a:latin typeface="Monospac821 BT" panose="020B0609020202020204" pitchFamily="49" charset="0"/>
              </a:rPr>
              <a:t> text-center </a:t>
            </a:r>
            <a:r>
              <a:rPr lang="hu-HU" sz="1100" dirty="0" err="1">
                <a:latin typeface="Monospac821 BT" panose="020B0609020202020204" pitchFamily="49" charset="0"/>
              </a:rPr>
              <a:t>fw-bold</a:t>
            </a:r>
            <a:r>
              <a:rPr lang="hu-HU" sz="1100" dirty="0">
                <a:latin typeface="Monospac821 BT" panose="020B0609020202020204" pitchFamily="49" charset="0"/>
              </a:rPr>
              <a:t> rounded-top-4 "&gt;</a:t>
            </a:r>
            <a:r>
              <a:rPr lang="hu-HU" sz="1100" dirty="0" err="1">
                <a:latin typeface="Monospac821 BT" panose="020B0609020202020204" pitchFamily="49" charset="0"/>
              </a:rPr>
              <a:t>Dayan</a:t>
            </a:r>
            <a:r>
              <a:rPr lang="hu-HU" sz="1100" dirty="0">
                <a:latin typeface="Monospac821 BT" panose="020B0609020202020204" pitchFamily="49" charset="0"/>
              </a:rPr>
              <a:t>&lt;/h4&gt;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&lt;div </a:t>
            </a:r>
            <a:r>
              <a:rPr lang="hu-HU" sz="1100" dirty="0" err="1">
                <a:latin typeface="Monospac821 BT" panose="020B0609020202020204" pitchFamily="49" charset="0"/>
              </a:rPr>
              <a:t>class</a:t>
            </a:r>
            <a:r>
              <a:rPr lang="hu-HU" sz="1100" dirty="0">
                <a:latin typeface="Monospac821 BT" panose="020B0609020202020204" pitchFamily="49" charset="0"/>
              </a:rPr>
              <a:t>="</a:t>
            </a:r>
            <a:r>
              <a:rPr lang="hu-HU" sz="1100" dirty="0" err="1">
                <a:latin typeface="Monospac821 BT" panose="020B0609020202020204" pitchFamily="49" charset="0"/>
              </a:rPr>
              <a:t>card</a:t>
            </a:r>
            <a:r>
              <a:rPr lang="hu-HU" sz="1100" dirty="0">
                <a:latin typeface="Monospac821 BT" panose="020B0609020202020204" pitchFamily="49" charset="0"/>
              </a:rPr>
              <a:t>-body text-center d-</a:t>
            </a:r>
            <a:r>
              <a:rPr lang="hu-HU" sz="1100" dirty="0" err="1">
                <a:latin typeface="Monospac821 BT" panose="020B0609020202020204" pitchFamily="49" charset="0"/>
              </a:rPr>
              <a:t>flex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flex-column</a:t>
            </a:r>
            <a:r>
              <a:rPr lang="hu-HU" sz="1100" dirty="0">
                <a:latin typeface="Monospac821 BT" panose="020B0609020202020204" pitchFamily="49" charset="0"/>
              </a:rPr>
              <a:t>"&gt;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    &lt;h5 </a:t>
            </a:r>
            <a:r>
              <a:rPr lang="hu-HU" sz="1100" dirty="0" err="1">
                <a:latin typeface="Monospac821 BT" panose="020B0609020202020204" pitchFamily="49" charset="0"/>
              </a:rPr>
              <a:t>class</a:t>
            </a:r>
            <a:r>
              <a:rPr lang="hu-HU" sz="1100" dirty="0">
                <a:latin typeface="Monospac821 BT" panose="020B0609020202020204" pitchFamily="49" charset="0"/>
              </a:rPr>
              <a:t>="</a:t>
            </a:r>
            <a:r>
              <a:rPr lang="hu-HU" sz="1100" dirty="0" err="1">
                <a:latin typeface="Monospac821 BT" panose="020B0609020202020204" pitchFamily="49" charset="0"/>
              </a:rPr>
              <a:t>card-title</a:t>
            </a:r>
            <a:r>
              <a:rPr lang="hu-HU" sz="1100" dirty="0">
                <a:latin typeface="Monospac821 BT" panose="020B0609020202020204" pitchFamily="49" charset="0"/>
              </a:rPr>
              <a:t> text-</a:t>
            </a:r>
            <a:r>
              <a:rPr lang="hu-HU" sz="1100" dirty="0" err="1">
                <a:latin typeface="Monospac821 BT" panose="020B0609020202020204" pitchFamily="49" charset="0"/>
              </a:rPr>
              <a:t>danger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fw-bold</a:t>
            </a:r>
            <a:r>
              <a:rPr lang="hu-HU" sz="1100" dirty="0">
                <a:latin typeface="Monospac821 BT" panose="020B0609020202020204" pitchFamily="49" charset="0"/>
              </a:rPr>
              <a:t>"&gt;Sebessége: Átlag (1.0 - 3.0 m/s)&lt;/h5&gt;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    &lt;p </a:t>
            </a:r>
            <a:r>
              <a:rPr lang="hu-HU" sz="1100" dirty="0" err="1">
                <a:latin typeface="Monospac821 BT" panose="020B0609020202020204" pitchFamily="49" charset="0"/>
              </a:rPr>
              <a:t>class</a:t>
            </a:r>
            <a:r>
              <a:rPr lang="hu-HU" sz="1100" dirty="0">
                <a:latin typeface="Monospac821 BT" panose="020B0609020202020204" pitchFamily="49" charset="0"/>
              </a:rPr>
              <a:t>="</a:t>
            </a:r>
            <a:r>
              <a:rPr lang="hu-HU" sz="1100" dirty="0" err="1">
                <a:latin typeface="Monospac821 BT" panose="020B0609020202020204" pitchFamily="49" charset="0"/>
              </a:rPr>
              <a:t>card</a:t>
            </a:r>
            <a:r>
              <a:rPr lang="hu-HU" sz="1100" dirty="0">
                <a:latin typeface="Monospac821 BT" panose="020B0609020202020204" pitchFamily="49" charset="0"/>
              </a:rPr>
              <a:t>-text text-</a:t>
            </a:r>
            <a:r>
              <a:rPr lang="hu-HU" sz="1100" dirty="0" err="1">
                <a:latin typeface="Monospac821 BT" panose="020B0609020202020204" pitchFamily="49" charset="0"/>
              </a:rPr>
              <a:t>secondary</a:t>
            </a:r>
            <a:r>
              <a:rPr lang="hu-HU" sz="1100" dirty="0">
                <a:latin typeface="Monospac821 BT" panose="020B0609020202020204" pitchFamily="49" charset="0"/>
              </a:rPr>
              <a:t>"&gt;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        Nagyon lassú, amíg nem lát játékost, de látáskor rendkívül gyors. Ha elbújsz és megszakad a látótáv, azonnal lelassul.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    &lt;/p&gt;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    &lt;div </a:t>
            </a:r>
            <a:r>
              <a:rPr lang="hu-HU" sz="1100" dirty="0" err="1">
                <a:latin typeface="Monospac821 BT" panose="020B0609020202020204" pitchFamily="49" charset="0"/>
              </a:rPr>
              <a:t>class</a:t>
            </a:r>
            <a:r>
              <a:rPr lang="hu-HU" sz="1100" dirty="0">
                <a:latin typeface="Monospac821 BT" panose="020B0609020202020204" pitchFamily="49" charset="0"/>
              </a:rPr>
              <a:t>="mb-3 </a:t>
            </a:r>
            <a:r>
              <a:rPr lang="hu-HU" sz="1100" dirty="0" err="1">
                <a:latin typeface="Monospac821 BT" panose="020B0609020202020204" pitchFamily="49" charset="0"/>
              </a:rPr>
              <a:t>mt-auto</a:t>
            </a:r>
            <a:r>
              <a:rPr lang="hu-HU" sz="1100" dirty="0">
                <a:latin typeface="Monospac821 BT" panose="020B0609020202020204" pitchFamily="49" charset="0"/>
              </a:rPr>
              <a:t>"&gt;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        &lt;</a:t>
            </a:r>
            <a:r>
              <a:rPr lang="hu-HU" sz="1100" dirty="0" err="1">
                <a:latin typeface="Monospac821 BT" panose="020B0609020202020204" pitchFamily="49" charset="0"/>
              </a:rPr>
              <a:t>span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class</a:t>
            </a:r>
            <a:r>
              <a:rPr lang="hu-HU" sz="1100" dirty="0">
                <a:latin typeface="Monospac821 BT" panose="020B0609020202020204" pitchFamily="49" charset="0"/>
              </a:rPr>
              <a:t>="</a:t>
            </a:r>
            <a:r>
              <a:rPr lang="hu-HU" sz="1100" dirty="0" err="1">
                <a:latin typeface="Monospac821 BT" panose="020B0609020202020204" pitchFamily="49" charset="0"/>
              </a:rPr>
              <a:t>badge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emf</a:t>
            </a:r>
            <a:r>
              <a:rPr lang="hu-HU" sz="1100" dirty="0">
                <a:latin typeface="Monospac821 BT" panose="020B0609020202020204" pitchFamily="49" charset="0"/>
              </a:rPr>
              <a:t> text-</a:t>
            </a:r>
            <a:r>
              <a:rPr lang="hu-HU" sz="1100" dirty="0" err="1">
                <a:latin typeface="Monospac821 BT" panose="020B0609020202020204" pitchFamily="49" charset="0"/>
              </a:rPr>
              <a:t>dark</a:t>
            </a:r>
            <a:r>
              <a:rPr lang="hu-HU" sz="1100" dirty="0">
                <a:latin typeface="Monospac821 BT" panose="020B0609020202020204" pitchFamily="49" charset="0"/>
              </a:rPr>
              <a:t>"&gt;EMF 5&lt;/</a:t>
            </a:r>
            <a:r>
              <a:rPr lang="hu-HU" sz="1100" dirty="0" err="1">
                <a:latin typeface="Monospac821 BT" panose="020B0609020202020204" pitchFamily="49" charset="0"/>
              </a:rPr>
              <a:t>span</a:t>
            </a:r>
            <a:r>
              <a:rPr lang="hu-HU" sz="1100" dirty="0">
                <a:latin typeface="Monospac821 BT" panose="020B0609020202020204" pitchFamily="49" charset="0"/>
              </a:rPr>
              <a:t>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        &lt;</a:t>
            </a:r>
            <a:r>
              <a:rPr lang="hu-HU" sz="1100" dirty="0" err="1">
                <a:latin typeface="Monospac821 BT" panose="020B0609020202020204" pitchFamily="49" charset="0"/>
              </a:rPr>
              <a:t>span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class</a:t>
            </a:r>
            <a:r>
              <a:rPr lang="hu-HU" sz="1100" dirty="0">
                <a:latin typeface="Monospac821 BT" panose="020B0609020202020204" pitchFamily="49" charset="0"/>
              </a:rPr>
              <a:t>="</a:t>
            </a:r>
            <a:r>
              <a:rPr lang="hu-HU" sz="1100" dirty="0" err="1">
                <a:latin typeface="Monospac821 BT" panose="020B0609020202020204" pitchFamily="49" charset="0"/>
              </a:rPr>
              <a:t>badge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orb</a:t>
            </a:r>
            <a:r>
              <a:rPr lang="hu-HU" sz="1100" dirty="0">
                <a:latin typeface="Monospac821 BT" panose="020B0609020202020204" pitchFamily="49" charset="0"/>
              </a:rPr>
              <a:t> text-</a:t>
            </a:r>
            <a:r>
              <a:rPr lang="hu-HU" sz="1100" dirty="0" err="1">
                <a:latin typeface="Monospac821 BT" panose="020B0609020202020204" pitchFamily="49" charset="0"/>
              </a:rPr>
              <a:t>dark</a:t>
            </a:r>
            <a:r>
              <a:rPr lang="hu-HU" sz="1100" dirty="0">
                <a:latin typeface="Monospac821 BT" panose="020B0609020202020204" pitchFamily="49" charset="0"/>
              </a:rPr>
              <a:t>"&gt;</a:t>
            </a:r>
            <a:r>
              <a:rPr lang="hu-HU" sz="1100" dirty="0" err="1">
                <a:latin typeface="Monospac821 BT" panose="020B0609020202020204" pitchFamily="49" charset="0"/>
              </a:rPr>
              <a:t>Ghost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orb</a:t>
            </a:r>
            <a:r>
              <a:rPr lang="hu-HU" sz="1100" dirty="0">
                <a:latin typeface="Monospac821 BT" panose="020B0609020202020204" pitchFamily="49" charset="0"/>
              </a:rPr>
              <a:t> &lt;/</a:t>
            </a:r>
            <a:r>
              <a:rPr lang="hu-HU" sz="1100" dirty="0" err="1">
                <a:latin typeface="Monospac821 BT" panose="020B0609020202020204" pitchFamily="49" charset="0"/>
              </a:rPr>
              <a:t>span</a:t>
            </a:r>
            <a:r>
              <a:rPr lang="hu-HU" sz="1100" dirty="0">
                <a:latin typeface="Monospac821 BT" panose="020B0609020202020204" pitchFamily="49" charset="0"/>
              </a:rPr>
              <a:t>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        &lt;</a:t>
            </a:r>
            <a:r>
              <a:rPr lang="hu-HU" sz="1100" dirty="0" err="1">
                <a:latin typeface="Monospac821 BT" panose="020B0609020202020204" pitchFamily="49" charset="0"/>
              </a:rPr>
              <a:t>span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class</a:t>
            </a:r>
            <a:r>
              <a:rPr lang="hu-HU" sz="1100" dirty="0">
                <a:latin typeface="Monospac821 BT" panose="020B0609020202020204" pitchFamily="49" charset="0"/>
              </a:rPr>
              <a:t>="</a:t>
            </a:r>
            <a:r>
              <a:rPr lang="hu-HU" sz="1100" dirty="0" err="1">
                <a:latin typeface="Monospac821 BT" panose="020B0609020202020204" pitchFamily="49" charset="0"/>
              </a:rPr>
              <a:t>badge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spirit_box</a:t>
            </a:r>
            <a:r>
              <a:rPr lang="hu-HU" sz="1100" dirty="0">
                <a:latin typeface="Monospac821 BT" panose="020B0609020202020204" pitchFamily="49" charset="0"/>
              </a:rPr>
              <a:t> text-</a:t>
            </a:r>
            <a:r>
              <a:rPr lang="hu-HU" sz="1100" dirty="0" err="1">
                <a:latin typeface="Monospac821 BT" panose="020B0609020202020204" pitchFamily="49" charset="0"/>
              </a:rPr>
              <a:t>dark</a:t>
            </a:r>
            <a:r>
              <a:rPr lang="hu-HU" sz="1100" dirty="0">
                <a:latin typeface="Monospac821 BT" panose="020B0609020202020204" pitchFamily="49" charset="0"/>
              </a:rPr>
              <a:t>"&gt;</a:t>
            </a:r>
            <a:r>
              <a:rPr lang="hu-HU" sz="1100" dirty="0" err="1">
                <a:latin typeface="Monospac821 BT" panose="020B0609020202020204" pitchFamily="49" charset="0"/>
              </a:rPr>
              <a:t>Spirit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Box</a:t>
            </a:r>
            <a:r>
              <a:rPr lang="hu-HU" sz="1100" dirty="0">
                <a:latin typeface="Monospac821 BT" panose="020B0609020202020204" pitchFamily="49" charset="0"/>
              </a:rPr>
              <a:t>&lt;/</a:t>
            </a:r>
            <a:r>
              <a:rPr lang="hu-HU" sz="1100" dirty="0" err="1">
                <a:latin typeface="Monospac821 BT" panose="020B0609020202020204" pitchFamily="49" charset="0"/>
              </a:rPr>
              <a:t>span</a:t>
            </a:r>
            <a:r>
              <a:rPr lang="hu-HU" sz="1100" dirty="0">
                <a:latin typeface="Monospac821 BT" panose="020B0609020202020204" pitchFamily="49" charset="0"/>
              </a:rPr>
              <a:t>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    &lt;/div&gt;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&lt;/div&gt;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&lt;/div&gt;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&lt;/div&gt;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3B4478F0-6AF3-45B3-9E0E-BC0388BB4B10}"/>
              </a:ext>
            </a:extLst>
          </p:cNvPr>
          <p:cNvSpPr txBox="1"/>
          <p:nvPr/>
        </p:nvSpPr>
        <p:spPr>
          <a:xfrm>
            <a:off x="825623" y="2902998"/>
            <a:ext cx="32048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hu-H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96BF47A-476B-4F2D-82EE-DD35F9242413}"/>
              </a:ext>
            </a:extLst>
          </p:cNvPr>
          <p:cNvSpPr txBox="1"/>
          <p:nvPr/>
        </p:nvSpPr>
        <p:spPr>
          <a:xfrm>
            <a:off x="592412" y="2862078"/>
            <a:ext cx="35777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Elöl megjegyzésben a Szellem neve, majd div-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eken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belülbootstrap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segítségével megadjuk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classba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aszöveg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formázásainkat illetve a </a:t>
            </a:r>
            <a:b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data-evidence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segítségével a szűrő adatainkat</a:t>
            </a:r>
          </a:p>
        </p:txBody>
      </p:sp>
    </p:spTree>
    <p:extLst>
      <p:ext uri="{BB962C8B-B14F-4D97-AF65-F5344CB8AC3E}">
        <p14:creationId xmlns:p14="http://schemas.microsoft.com/office/powerpoint/2010/main" val="380424996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250">
        <p15:prstTrans prst="origami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 helye 3">
            <a:extLst>
              <a:ext uri="{FF2B5EF4-FFF2-40B4-BE49-F238E27FC236}">
                <a16:creationId xmlns:a16="http://schemas.microsoft.com/office/drawing/2014/main" id="{A380262F-8C9A-4ACF-9766-4BB046BFD3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5156" y="1928349"/>
            <a:ext cx="2897411" cy="669708"/>
          </a:xfrm>
        </p:spPr>
        <p:txBody>
          <a:bodyPr>
            <a:noAutofit/>
          </a:bodyPr>
          <a:lstStyle/>
          <a:p>
            <a:r>
              <a:rPr lang="hu-HU" sz="3200" b="1" dirty="0"/>
              <a:t>Nyomógombok</a:t>
            </a:r>
          </a:p>
        </p:txBody>
      </p:sp>
      <p:sp>
        <p:nvSpPr>
          <p:cNvPr id="6" name="Cím 5">
            <a:extLst>
              <a:ext uri="{FF2B5EF4-FFF2-40B4-BE49-F238E27FC236}">
                <a16:creationId xmlns:a16="http://schemas.microsoft.com/office/drawing/2014/main" id="{2F31512E-B551-4349-852F-DD3A1FF07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05" y="279714"/>
            <a:ext cx="3949307" cy="1382697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hu-HU" sz="4000" u="sng" dirty="0"/>
              <a:t>Demonok.html</a:t>
            </a:r>
            <a:br>
              <a:rPr lang="hu-HU" dirty="0"/>
            </a:br>
            <a:r>
              <a:rPr lang="hu-HU" sz="2400" dirty="0"/>
              <a:t>Készítette:</a:t>
            </a:r>
            <a:br>
              <a:rPr lang="hu-HU" sz="2400" dirty="0"/>
            </a:br>
            <a:r>
              <a:rPr lang="hu-HU" sz="2400" dirty="0"/>
              <a:t>Konyári Botond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626E6684-46CA-4F1B-8DB6-D34D4F4FE28B}"/>
              </a:ext>
            </a:extLst>
          </p:cNvPr>
          <p:cNvSpPr txBox="1"/>
          <p:nvPr/>
        </p:nvSpPr>
        <p:spPr>
          <a:xfrm>
            <a:off x="419698" y="2373961"/>
            <a:ext cx="3368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Kártyák</a:t>
            </a: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185943A9-DFFA-48AE-96FA-7262C2D863EE}"/>
              </a:ext>
            </a:extLst>
          </p:cNvPr>
          <p:cNvSpPr txBox="1"/>
          <p:nvPr/>
        </p:nvSpPr>
        <p:spPr>
          <a:xfrm>
            <a:off x="4936898" y="192117"/>
            <a:ext cx="6429479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hu-HU" sz="1100" dirty="0">
              <a:latin typeface="Monospac821 BT" panose="020B0609020202020204" pitchFamily="49" charset="0"/>
            </a:endParaRPr>
          </a:p>
          <a:p>
            <a:r>
              <a:rPr lang="hu-HU" sz="1100" dirty="0">
                <a:latin typeface="Monospac821 BT" panose="020B0609020202020204" pitchFamily="49" charset="0"/>
              </a:rPr>
              <a:t>&lt;!-- </a:t>
            </a:r>
            <a:r>
              <a:rPr lang="hu-HU" sz="1100" dirty="0" err="1">
                <a:latin typeface="Monospac821 BT" panose="020B0609020202020204" pitchFamily="49" charset="0"/>
              </a:rPr>
              <a:t>Dayan</a:t>
            </a:r>
            <a:r>
              <a:rPr lang="hu-HU" sz="1100" dirty="0">
                <a:latin typeface="Monospac821 BT" panose="020B0609020202020204" pitchFamily="49" charset="0"/>
              </a:rPr>
              <a:t>  --&gt;</a:t>
            </a:r>
          </a:p>
          <a:p>
            <a:endParaRPr lang="hu-HU" sz="1100" dirty="0">
              <a:latin typeface="Monospac821 BT" panose="020B0609020202020204" pitchFamily="49" charset="0"/>
            </a:endParaRPr>
          </a:p>
          <a:p>
            <a:r>
              <a:rPr lang="hu-HU" sz="1100" dirty="0">
                <a:latin typeface="Monospac821 BT" panose="020B0609020202020204" pitchFamily="49" charset="0"/>
              </a:rPr>
              <a:t>        &lt;div </a:t>
            </a:r>
            <a:r>
              <a:rPr lang="hu-HU" sz="1100" dirty="0" err="1">
                <a:latin typeface="Monospac821 BT" panose="020B0609020202020204" pitchFamily="49" charset="0"/>
              </a:rPr>
              <a:t>class</a:t>
            </a:r>
            <a:r>
              <a:rPr lang="hu-HU" sz="1100" dirty="0">
                <a:latin typeface="Monospac821 BT" panose="020B0609020202020204" pitchFamily="49" charset="0"/>
              </a:rPr>
              <a:t>="col-12 col-md-6 col-lg-3 mb-5 </a:t>
            </a:r>
            <a:r>
              <a:rPr lang="hu-HU" sz="1100" dirty="0" err="1">
                <a:latin typeface="Monospac821 BT" panose="020B0609020202020204" pitchFamily="49" charset="0"/>
              </a:rPr>
              <a:t>ghost-card</a:t>
            </a:r>
            <a:r>
              <a:rPr lang="hu-HU" sz="1100" dirty="0">
                <a:latin typeface="Monospac821 BT" panose="020B0609020202020204" pitchFamily="49" charset="0"/>
              </a:rPr>
              <a:t>" </a:t>
            </a:r>
            <a:r>
              <a:rPr lang="hu-HU" sz="1100" dirty="0" err="1">
                <a:latin typeface="Monospac821 BT" panose="020B0609020202020204" pitchFamily="49" charset="0"/>
              </a:rPr>
              <a:t>data-evidence</a:t>
            </a:r>
            <a:r>
              <a:rPr lang="hu-HU" sz="1100" dirty="0">
                <a:latin typeface="Monospac821 BT" panose="020B0609020202020204" pitchFamily="49" charset="0"/>
              </a:rPr>
              <a:t>="</a:t>
            </a:r>
            <a:r>
              <a:rPr lang="hu-HU" sz="1100" dirty="0" err="1">
                <a:latin typeface="Monospac821 BT" panose="020B0609020202020204" pitchFamily="49" charset="0"/>
              </a:rPr>
              <a:t>emf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orb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spirit_box</a:t>
            </a:r>
            <a:r>
              <a:rPr lang="hu-HU" sz="1100" dirty="0">
                <a:latin typeface="Monospac821 BT" panose="020B0609020202020204" pitchFamily="49" charset="0"/>
              </a:rPr>
              <a:t>"&gt;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&lt;div </a:t>
            </a:r>
            <a:r>
              <a:rPr lang="hu-HU" sz="1100" dirty="0" err="1">
                <a:latin typeface="Monospac821 BT" panose="020B0609020202020204" pitchFamily="49" charset="0"/>
              </a:rPr>
              <a:t>class</a:t>
            </a:r>
            <a:r>
              <a:rPr lang="hu-HU" sz="1100" dirty="0">
                <a:latin typeface="Monospac821 BT" panose="020B0609020202020204" pitchFamily="49" charset="0"/>
              </a:rPr>
              <a:t>="</a:t>
            </a:r>
            <a:r>
              <a:rPr lang="hu-HU" sz="1100" dirty="0" err="1">
                <a:latin typeface="Monospac821 BT" panose="020B0609020202020204" pitchFamily="49" charset="0"/>
              </a:rPr>
              <a:t>card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bg-dark</a:t>
            </a:r>
            <a:r>
              <a:rPr lang="hu-HU" sz="1100" dirty="0">
                <a:latin typeface="Monospac821 BT" panose="020B0609020202020204" pitchFamily="49" charset="0"/>
              </a:rPr>
              <a:t> text-</a:t>
            </a:r>
            <a:r>
              <a:rPr lang="hu-HU" sz="1100" dirty="0" err="1">
                <a:latin typeface="Monospac821 BT" panose="020B0609020202020204" pitchFamily="49" charset="0"/>
              </a:rPr>
              <a:t>light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border-danger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shadow</a:t>
            </a:r>
            <a:r>
              <a:rPr lang="hu-HU" sz="1100" dirty="0">
                <a:latin typeface="Monospac821 BT" panose="020B0609020202020204" pitchFamily="49" charset="0"/>
              </a:rPr>
              <a:t>-lg rounded-4 h-100"&gt;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&lt;h4 </a:t>
            </a:r>
            <a:r>
              <a:rPr lang="hu-HU" sz="1100" dirty="0" err="1">
                <a:latin typeface="Monospac821 BT" panose="020B0609020202020204" pitchFamily="49" charset="0"/>
              </a:rPr>
              <a:t>class</a:t>
            </a:r>
            <a:r>
              <a:rPr lang="hu-HU" sz="1100" dirty="0">
                <a:latin typeface="Monospac821 BT" panose="020B0609020202020204" pitchFamily="49" charset="0"/>
              </a:rPr>
              <a:t>="</a:t>
            </a:r>
            <a:r>
              <a:rPr lang="hu-HU" sz="1100" dirty="0" err="1">
                <a:latin typeface="Monospac821 BT" panose="020B0609020202020204" pitchFamily="49" charset="0"/>
              </a:rPr>
              <a:t>card-header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bg-danger</a:t>
            </a:r>
            <a:r>
              <a:rPr lang="hu-HU" sz="1100" dirty="0">
                <a:latin typeface="Monospac821 BT" panose="020B0609020202020204" pitchFamily="49" charset="0"/>
              </a:rPr>
              <a:t> text-</a:t>
            </a:r>
            <a:r>
              <a:rPr lang="hu-HU" sz="1100" dirty="0" err="1">
                <a:latin typeface="Monospac821 BT" panose="020B0609020202020204" pitchFamily="49" charset="0"/>
              </a:rPr>
              <a:t>white</a:t>
            </a:r>
            <a:r>
              <a:rPr lang="hu-HU" sz="1100" dirty="0">
                <a:latin typeface="Monospac821 BT" panose="020B0609020202020204" pitchFamily="49" charset="0"/>
              </a:rPr>
              <a:t> text-center </a:t>
            </a:r>
            <a:r>
              <a:rPr lang="hu-HU" sz="1100" dirty="0" err="1">
                <a:latin typeface="Monospac821 BT" panose="020B0609020202020204" pitchFamily="49" charset="0"/>
              </a:rPr>
              <a:t>fw-bold</a:t>
            </a:r>
            <a:r>
              <a:rPr lang="hu-HU" sz="1100" dirty="0">
                <a:latin typeface="Monospac821 BT" panose="020B0609020202020204" pitchFamily="49" charset="0"/>
              </a:rPr>
              <a:t> rounded-top-4 "&gt;</a:t>
            </a:r>
            <a:r>
              <a:rPr lang="hu-HU" sz="1100" dirty="0" err="1">
                <a:latin typeface="Monospac821 BT" panose="020B0609020202020204" pitchFamily="49" charset="0"/>
              </a:rPr>
              <a:t>Dayan</a:t>
            </a:r>
            <a:r>
              <a:rPr lang="hu-HU" sz="1100" dirty="0">
                <a:latin typeface="Monospac821 BT" panose="020B0609020202020204" pitchFamily="49" charset="0"/>
              </a:rPr>
              <a:t>&lt;/h4&gt;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&lt;div </a:t>
            </a:r>
            <a:r>
              <a:rPr lang="hu-HU" sz="1100" dirty="0" err="1">
                <a:latin typeface="Monospac821 BT" panose="020B0609020202020204" pitchFamily="49" charset="0"/>
              </a:rPr>
              <a:t>class</a:t>
            </a:r>
            <a:r>
              <a:rPr lang="hu-HU" sz="1100" dirty="0">
                <a:latin typeface="Monospac821 BT" panose="020B0609020202020204" pitchFamily="49" charset="0"/>
              </a:rPr>
              <a:t>="</a:t>
            </a:r>
            <a:r>
              <a:rPr lang="hu-HU" sz="1100" dirty="0" err="1">
                <a:latin typeface="Monospac821 BT" panose="020B0609020202020204" pitchFamily="49" charset="0"/>
              </a:rPr>
              <a:t>card</a:t>
            </a:r>
            <a:r>
              <a:rPr lang="hu-HU" sz="1100" dirty="0">
                <a:latin typeface="Monospac821 BT" panose="020B0609020202020204" pitchFamily="49" charset="0"/>
              </a:rPr>
              <a:t>-body text-center d-</a:t>
            </a:r>
            <a:r>
              <a:rPr lang="hu-HU" sz="1100" dirty="0" err="1">
                <a:latin typeface="Monospac821 BT" panose="020B0609020202020204" pitchFamily="49" charset="0"/>
              </a:rPr>
              <a:t>flex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flex-column</a:t>
            </a:r>
            <a:r>
              <a:rPr lang="hu-HU" sz="1100" dirty="0">
                <a:latin typeface="Monospac821 BT" panose="020B0609020202020204" pitchFamily="49" charset="0"/>
              </a:rPr>
              <a:t>"&gt;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    &lt;h5 </a:t>
            </a:r>
            <a:r>
              <a:rPr lang="hu-HU" sz="1100" dirty="0" err="1">
                <a:latin typeface="Monospac821 BT" panose="020B0609020202020204" pitchFamily="49" charset="0"/>
              </a:rPr>
              <a:t>class</a:t>
            </a:r>
            <a:r>
              <a:rPr lang="hu-HU" sz="1100" dirty="0">
                <a:latin typeface="Monospac821 BT" panose="020B0609020202020204" pitchFamily="49" charset="0"/>
              </a:rPr>
              <a:t>="</a:t>
            </a:r>
            <a:r>
              <a:rPr lang="hu-HU" sz="1100" dirty="0" err="1">
                <a:latin typeface="Monospac821 BT" panose="020B0609020202020204" pitchFamily="49" charset="0"/>
              </a:rPr>
              <a:t>card-title</a:t>
            </a:r>
            <a:r>
              <a:rPr lang="hu-HU" sz="1100" dirty="0">
                <a:latin typeface="Monospac821 BT" panose="020B0609020202020204" pitchFamily="49" charset="0"/>
              </a:rPr>
              <a:t> text-</a:t>
            </a:r>
            <a:r>
              <a:rPr lang="hu-HU" sz="1100" dirty="0" err="1">
                <a:latin typeface="Monospac821 BT" panose="020B0609020202020204" pitchFamily="49" charset="0"/>
              </a:rPr>
              <a:t>danger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fw-bold</a:t>
            </a:r>
            <a:r>
              <a:rPr lang="hu-HU" sz="1100" dirty="0">
                <a:latin typeface="Monospac821 BT" panose="020B0609020202020204" pitchFamily="49" charset="0"/>
              </a:rPr>
              <a:t>"&gt;Sebessége: Átlag (1.0 - 3.0 m/s)&lt;/h5&gt;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    &lt;p </a:t>
            </a:r>
            <a:r>
              <a:rPr lang="hu-HU" sz="1100" dirty="0" err="1">
                <a:latin typeface="Monospac821 BT" panose="020B0609020202020204" pitchFamily="49" charset="0"/>
              </a:rPr>
              <a:t>class</a:t>
            </a:r>
            <a:r>
              <a:rPr lang="hu-HU" sz="1100" dirty="0">
                <a:latin typeface="Monospac821 BT" panose="020B0609020202020204" pitchFamily="49" charset="0"/>
              </a:rPr>
              <a:t>="</a:t>
            </a:r>
            <a:r>
              <a:rPr lang="hu-HU" sz="1100" dirty="0" err="1">
                <a:latin typeface="Monospac821 BT" panose="020B0609020202020204" pitchFamily="49" charset="0"/>
              </a:rPr>
              <a:t>card</a:t>
            </a:r>
            <a:r>
              <a:rPr lang="hu-HU" sz="1100" dirty="0">
                <a:latin typeface="Monospac821 BT" panose="020B0609020202020204" pitchFamily="49" charset="0"/>
              </a:rPr>
              <a:t>-text text-</a:t>
            </a:r>
            <a:r>
              <a:rPr lang="hu-HU" sz="1100" dirty="0" err="1">
                <a:latin typeface="Monospac821 BT" panose="020B0609020202020204" pitchFamily="49" charset="0"/>
              </a:rPr>
              <a:t>secondary</a:t>
            </a:r>
            <a:r>
              <a:rPr lang="hu-HU" sz="1100" dirty="0">
                <a:latin typeface="Monospac821 BT" panose="020B0609020202020204" pitchFamily="49" charset="0"/>
              </a:rPr>
              <a:t>"&gt;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        Nagyon lassú, amíg nem lát játékost, de látáskor rendkívül gyors. Ha elbújsz és megszakad a látótáv, azonnal lelassul.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    &lt;/p&gt;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    &lt;div </a:t>
            </a:r>
            <a:r>
              <a:rPr lang="hu-HU" sz="1100" dirty="0" err="1">
                <a:latin typeface="Monospac821 BT" panose="020B0609020202020204" pitchFamily="49" charset="0"/>
              </a:rPr>
              <a:t>class</a:t>
            </a:r>
            <a:r>
              <a:rPr lang="hu-HU" sz="1100" dirty="0">
                <a:latin typeface="Monospac821 BT" panose="020B0609020202020204" pitchFamily="49" charset="0"/>
              </a:rPr>
              <a:t>="mb-3 </a:t>
            </a:r>
            <a:r>
              <a:rPr lang="hu-HU" sz="1100" dirty="0" err="1">
                <a:latin typeface="Monospac821 BT" panose="020B0609020202020204" pitchFamily="49" charset="0"/>
              </a:rPr>
              <a:t>mt-auto</a:t>
            </a:r>
            <a:r>
              <a:rPr lang="hu-HU" sz="1100" dirty="0">
                <a:latin typeface="Monospac821 BT" panose="020B0609020202020204" pitchFamily="49" charset="0"/>
              </a:rPr>
              <a:t>"&gt;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        &lt;</a:t>
            </a:r>
            <a:r>
              <a:rPr lang="hu-HU" sz="1100" dirty="0" err="1">
                <a:latin typeface="Monospac821 BT" panose="020B0609020202020204" pitchFamily="49" charset="0"/>
              </a:rPr>
              <a:t>span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class</a:t>
            </a:r>
            <a:r>
              <a:rPr lang="hu-HU" sz="1100" dirty="0">
                <a:latin typeface="Monospac821 BT" panose="020B0609020202020204" pitchFamily="49" charset="0"/>
              </a:rPr>
              <a:t>="</a:t>
            </a:r>
            <a:r>
              <a:rPr lang="hu-HU" sz="1100" dirty="0" err="1">
                <a:latin typeface="Monospac821 BT" panose="020B0609020202020204" pitchFamily="49" charset="0"/>
              </a:rPr>
              <a:t>badge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emf</a:t>
            </a:r>
            <a:r>
              <a:rPr lang="hu-HU" sz="1100" dirty="0">
                <a:latin typeface="Monospac821 BT" panose="020B0609020202020204" pitchFamily="49" charset="0"/>
              </a:rPr>
              <a:t> text-</a:t>
            </a:r>
            <a:r>
              <a:rPr lang="hu-HU" sz="1100" dirty="0" err="1">
                <a:latin typeface="Monospac821 BT" panose="020B0609020202020204" pitchFamily="49" charset="0"/>
              </a:rPr>
              <a:t>dark</a:t>
            </a:r>
            <a:r>
              <a:rPr lang="hu-HU" sz="1100" dirty="0">
                <a:latin typeface="Monospac821 BT" panose="020B0609020202020204" pitchFamily="49" charset="0"/>
              </a:rPr>
              <a:t>"&gt;EMF 5&lt;/</a:t>
            </a:r>
            <a:r>
              <a:rPr lang="hu-HU" sz="1100" dirty="0" err="1">
                <a:latin typeface="Monospac821 BT" panose="020B0609020202020204" pitchFamily="49" charset="0"/>
              </a:rPr>
              <a:t>span</a:t>
            </a:r>
            <a:r>
              <a:rPr lang="hu-HU" sz="1100" dirty="0">
                <a:latin typeface="Monospac821 BT" panose="020B0609020202020204" pitchFamily="49" charset="0"/>
              </a:rPr>
              <a:t>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        &lt;</a:t>
            </a:r>
            <a:r>
              <a:rPr lang="hu-HU" sz="1100" dirty="0" err="1">
                <a:latin typeface="Monospac821 BT" panose="020B0609020202020204" pitchFamily="49" charset="0"/>
              </a:rPr>
              <a:t>span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class</a:t>
            </a:r>
            <a:r>
              <a:rPr lang="hu-HU" sz="1100" dirty="0">
                <a:latin typeface="Monospac821 BT" panose="020B0609020202020204" pitchFamily="49" charset="0"/>
              </a:rPr>
              <a:t>="</a:t>
            </a:r>
            <a:r>
              <a:rPr lang="hu-HU" sz="1100" dirty="0" err="1">
                <a:latin typeface="Monospac821 BT" panose="020B0609020202020204" pitchFamily="49" charset="0"/>
              </a:rPr>
              <a:t>badge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orb</a:t>
            </a:r>
            <a:r>
              <a:rPr lang="hu-HU" sz="1100" dirty="0">
                <a:latin typeface="Monospac821 BT" panose="020B0609020202020204" pitchFamily="49" charset="0"/>
              </a:rPr>
              <a:t> text-</a:t>
            </a:r>
            <a:r>
              <a:rPr lang="hu-HU" sz="1100" dirty="0" err="1">
                <a:latin typeface="Monospac821 BT" panose="020B0609020202020204" pitchFamily="49" charset="0"/>
              </a:rPr>
              <a:t>dark</a:t>
            </a:r>
            <a:r>
              <a:rPr lang="hu-HU" sz="1100" dirty="0">
                <a:latin typeface="Monospac821 BT" panose="020B0609020202020204" pitchFamily="49" charset="0"/>
              </a:rPr>
              <a:t>"&gt;</a:t>
            </a:r>
            <a:r>
              <a:rPr lang="hu-HU" sz="1100" dirty="0" err="1">
                <a:latin typeface="Monospac821 BT" panose="020B0609020202020204" pitchFamily="49" charset="0"/>
              </a:rPr>
              <a:t>Ghost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orb</a:t>
            </a:r>
            <a:r>
              <a:rPr lang="hu-HU" sz="1100" dirty="0">
                <a:latin typeface="Monospac821 BT" panose="020B0609020202020204" pitchFamily="49" charset="0"/>
              </a:rPr>
              <a:t> &lt;/</a:t>
            </a:r>
            <a:r>
              <a:rPr lang="hu-HU" sz="1100" dirty="0" err="1">
                <a:latin typeface="Monospac821 BT" panose="020B0609020202020204" pitchFamily="49" charset="0"/>
              </a:rPr>
              <a:t>span</a:t>
            </a:r>
            <a:r>
              <a:rPr lang="hu-HU" sz="1100" dirty="0">
                <a:latin typeface="Monospac821 BT" panose="020B0609020202020204" pitchFamily="49" charset="0"/>
              </a:rPr>
              <a:t>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        &lt;</a:t>
            </a:r>
            <a:r>
              <a:rPr lang="hu-HU" sz="1100" dirty="0" err="1">
                <a:latin typeface="Monospac821 BT" panose="020B0609020202020204" pitchFamily="49" charset="0"/>
              </a:rPr>
              <a:t>span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class</a:t>
            </a:r>
            <a:r>
              <a:rPr lang="hu-HU" sz="1100" dirty="0">
                <a:latin typeface="Monospac821 BT" panose="020B0609020202020204" pitchFamily="49" charset="0"/>
              </a:rPr>
              <a:t>="</a:t>
            </a:r>
            <a:r>
              <a:rPr lang="hu-HU" sz="1100" dirty="0" err="1">
                <a:latin typeface="Monospac821 BT" panose="020B0609020202020204" pitchFamily="49" charset="0"/>
              </a:rPr>
              <a:t>badge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spirit_box</a:t>
            </a:r>
            <a:r>
              <a:rPr lang="hu-HU" sz="1100" dirty="0">
                <a:latin typeface="Monospac821 BT" panose="020B0609020202020204" pitchFamily="49" charset="0"/>
              </a:rPr>
              <a:t> text-</a:t>
            </a:r>
            <a:r>
              <a:rPr lang="hu-HU" sz="1100" dirty="0" err="1">
                <a:latin typeface="Monospac821 BT" panose="020B0609020202020204" pitchFamily="49" charset="0"/>
              </a:rPr>
              <a:t>dark</a:t>
            </a:r>
            <a:r>
              <a:rPr lang="hu-HU" sz="1100" dirty="0">
                <a:latin typeface="Monospac821 BT" panose="020B0609020202020204" pitchFamily="49" charset="0"/>
              </a:rPr>
              <a:t>"&gt;</a:t>
            </a:r>
            <a:r>
              <a:rPr lang="hu-HU" sz="1100" dirty="0" err="1">
                <a:latin typeface="Monospac821 BT" panose="020B0609020202020204" pitchFamily="49" charset="0"/>
              </a:rPr>
              <a:t>Spirit</a:t>
            </a:r>
            <a:r>
              <a:rPr lang="hu-HU" sz="1100" dirty="0">
                <a:latin typeface="Monospac821 BT" panose="020B0609020202020204" pitchFamily="49" charset="0"/>
              </a:rPr>
              <a:t> </a:t>
            </a:r>
            <a:r>
              <a:rPr lang="hu-HU" sz="1100" dirty="0" err="1">
                <a:latin typeface="Monospac821 BT" panose="020B0609020202020204" pitchFamily="49" charset="0"/>
              </a:rPr>
              <a:t>Box</a:t>
            </a:r>
            <a:r>
              <a:rPr lang="hu-HU" sz="1100" dirty="0">
                <a:latin typeface="Monospac821 BT" panose="020B0609020202020204" pitchFamily="49" charset="0"/>
              </a:rPr>
              <a:t>&lt;/</a:t>
            </a:r>
            <a:r>
              <a:rPr lang="hu-HU" sz="1100" dirty="0" err="1">
                <a:latin typeface="Monospac821 BT" panose="020B0609020202020204" pitchFamily="49" charset="0"/>
              </a:rPr>
              <a:t>span</a:t>
            </a:r>
            <a:r>
              <a:rPr lang="hu-HU" sz="1100" dirty="0">
                <a:latin typeface="Monospac821 BT" panose="020B0609020202020204" pitchFamily="49" charset="0"/>
              </a:rPr>
              <a:t>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    &lt;/div&gt;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    &lt;/div&gt;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    &lt;/div&gt;</a:t>
            </a:r>
          </a:p>
          <a:p>
            <a:r>
              <a:rPr lang="hu-HU" sz="1100" dirty="0">
                <a:latin typeface="Monospac821 BT" panose="020B0609020202020204" pitchFamily="49" charset="0"/>
              </a:rPr>
              <a:t>    &lt;/div&gt;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3B4478F0-6AF3-45B3-9E0E-BC0388BB4B10}"/>
              </a:ext>
            </a:extLst>
          </p:cNvPr>
          <p:cNvSpPr txBox="1"/>
          <p:nvPr/>
        </p:nvSpPr>
        <p:spPr>
          <a:xfrm>
            <a:off x="825623" y="2902998"/>
            <a:ext cx="32048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hu-H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96BF47A-476B-4F2D-82EE-DD35F9242413}"/>
              </a:ext>
            </a:extLst>
          </p:cNvPr>
          <p:cNvSpPr txBox="1"/>
          <p:nvPr/>
        </p:nvSpPr>
        <p:spPr>
          <a:xfrm>
            <a:off x="352203" y="2863995"/>
            <a:ext cx="401025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H4-ben megadtam a szellem nevét, amely a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card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header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-ben helyezkedik el, és egy rövid leírást tettem a szellemről a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card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-body-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Végül egy új div segítségével a dokumentum végére tettem három darab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dulajdonságot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(amivel tudjuk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ugy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szortírozni)</a:t>
            </a:r>
          </a:p>
        </p:txBody>
      </p:sp>
    </p:spTree>
    <p:extLst>
      <p:ext uri="{BB962C8B-B14F-4D97-AF65-F5344CB8AC3E}">
        <p14:creationId xmlns:p14="http://schemas.microsoft.com/office/powerpoint/2010/main" val="17259691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Fő esemény">
  <a:themeElements>
    <a:clrScheme name="Fő esemény">
      <a:dk1>
        <a:sysClr val="windowText" lastClr="000000"/>
      </a:dk1>
      <a:lt1>
        <a:sysClr val="window" lastClr="FFFFFF"/>
      </a:lt1>
      <a:dk2>
        <a:srgbClr val="424242"/>
      </a:dk2>
      <a:lt2>
        <a:srgbClr val="C8C8C8"/>
      </a:lt2>
      <a:accent1>
        <a:srgbClr val="B80E0F"/>
      </a:accent1>
      <a:accent2>
        <a:srgbClr val="A6987D"/>
      </a:accent2>
      <a:accent3>
        <a:srgbClr val="7F9A71"/>
      </a:accent3>
      <a:accent4>
        <a:srgbClr val="64969F"/>
      </a:accent4>
      <a:accent5>
        <a:srgbClr val="9B75B2"/>
      </a:accent5>
      <a:accent6>
        <a:srgbClr val="80737A"/>
      </a:accent6>
      <a:hlink>
        <a:srgbClr val="F21213"/>
      </a:hlink>
      <a:folHlink>
        <a:srgbClr val="B6A394"/>
      </a:folHlink>
    </a:clrScheme>
    <a:fontScheme name="Fő esemény">
      <a:maj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ő esemény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blipFill>
          <a:blip xmlns:r="http://schemas.openxmlformats.org/officeDocument/2006/relationships" r:embed="rId1">
            <a:duotone>
              <a:schemeClr val="phClr">
                <a:shade val="88000"/>
                <a:lumMod val="88000"/>
              </a:schemeClr>
              <a:schemeClr val="phClr"/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25400" dist="127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0"/>
        </a:gradFill>
        <a:blipFill>
          <a:blip xmlns:r="http://schemas.openxmlformats.org/officeDocument/2006/relationships" r:embed="rId2">
            <a:duotone>
              <a:schemeClr val="phClr">
                <a:shade val="48000"/>
                <a:satMod val="110000"/>
                <a:lumMod val="40000"/>
              </a:schemeClr>
              <a:schemeClr val="phClr">
                <a:tint val="90000"/>
                <a:lumMod val="10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in Event" id="{AC372BB4-D83D-411E-B849-B641926BA760}" vid="{F1EFBDE3-1A95-4E3D-81AD-1F53D65BEA0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TM04033927[[fn=Fő esemény]]</Template>
  <TotalTime>71</TotalTime>
  <Words>1138</Words>
  <Application>Microsoft Office PowerPoint</Application>
  <PresentationFormat>Szélesvásznú</PresentationFormat>
  <Paragraphs>149</Paragraphs>
  <Slides>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2" baseType="lpstr">
      <vt:lpstr>Arial</vt:lpstr>
      <vt:lpstr>Impact</vt:lpstr>
      <vt:lpstr>Monospac821 BT</vt:lpstr>
      <vt:lpstr>Times New Roman</vt:lpstr>
      <vt:lpstr>Fő esemény</vt:lpstr>
      <vt:lpstr>Programozás bemutató</vt:lpstr>
      <vt:lpstr>Demonok.html Készítette: Konyári Botond</vt:lpstr>
      <vt:lpstr>Demonok.html Készítette: Konyári Botond</vt:lpstr>
      <vt:lpstr>Demonok.html Készítette: Konyári Botond</vt:lpstr>
      <vt:lpstr>Demonok.html Készítette: Konyári Botond</vt:lpstr>
      <vt:lpstr>Demonok.html Készítette: Konyári Botond</vt:lpstr>
      <vt:lpstr>Demonok.html Készítette: Konyári Botond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Programozás bemutató</dc:title>
  <dc:creator>Konyári Botond Bátor</dc:creator>
  <cp:lastModifiedBy>Konyári Botond Bátor</cp:lastModifiedBy>
  <cp:revision>11</cp:revision>
  <dcterms:created xsi:type="dcterms:W3CDTF">2026-02-23T07:16:39Z</dcterms:created>
  <dcterms:modified xsi:type="dcterms:W3CDTF">2026-02-25T08:53:38Z</dcterms:modified>
</cp:coreProperties>
</file>